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340" r:id="rId6"/>
    <p:sldId id="261" r:id="rId7"/>
    <p:sldId id="341" r:id="rId8"/>
    <p:sldId id="342" r:id="rId9"/>
    <p:sldId id="343" r:id="rId10"/>
    <p:sldId id="344" r:id="rId11"/>
    <p:sldId id="346" r:id="rId12"/>
    <p:sldId id="345" r:id="rId13"/>
    <p:sldId id="348" r:id="rId14"/>
    <p:sldId id="349" r:id="rId15"/>
    <p:sldId id="350" r:id="rId16"/>
    <p:sldId id="351" r:id="rId17"/>
    <p:sldId id="262" r:id="rId18"/>
    <p:sldId id="347" r:id="rId19"/>
    <p:sldId id="263" r:id="rId20"/>
    <p:sldId id="265" r:id="rId21"/>
    <p:sldId id="264" r:id="rId22"/>
    <p:sldId id="260" r:id="rId23"/>
    <p:sldId id="266" r:id="rId24"/>
  </p:sldIdLst>
  <p:sldSz cx="9144000" cy="5143500" type="screen16x9"/>
  <p:notesSz cx="6858000" cy="9144000"/>
  <p:embeddedFontLst>
    <p:embeddedFont>
      <p:font typeface="Georgia" pitchFamily="18" charset="0"/>
      <p:regular r:id="rId26"/>
      <p:bold r:id="rId27"/>
      <p:italic r:id="rId28"/>
      <p:boldItalic r:id="rId29"/>
    </p:embeddedFont>
    <p:embeddedFont>
      <p:font typeface="Kulim Park" charset="0"/>
      <p:regular r:id="rId30"/>
      <p:bold r:id="rId31"/>
      <p:italic r:id="rId32"/>
      <p:boldItalic r:id="rId33"/>
    </p:embeddedFont>
    <p:embeddedFont>
      <p:font typeface="Manrope" charset="0"/>
      <p:regular r:id="rId34"/>
      <p:bold r:id="rId35"/>
    </p:embeddedFont>
    <p:embeddedFont>
      <p:font typeface="Arial Unicode MS" pitchFamily="34" charset="-128"/>
      <p:regular r:id="rId36"/>
    </p:embeddedFont>
    <p:embeddedFont>
      <p:font typeface="Kulim Park SemiBold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43FB5E56-6BB9-404E-A330-3FEDA9E42662}">
  <a:tblStyle styleId="{43FB5E56-6BB9-404E-A330-3FEDA9E4266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6BAE25B-8E27-4A0A-970D-8D221A91862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853" autoAdjust="0"/>
  </p:normalViewPr>
  <p:slideViewPr>
    <p:cSldViewPr>
      <p:cViewPr>
        <p:scale>
          <a:sx n="100" d="100"/>
          <a:sy n="100" d="100"/>
        </p:scale>
        <p:origin x="-946" y="-19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ead6129809_1_21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ead6129809_1_21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24dc3920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24dc3920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124dc3920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124dc3920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24dc3920de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124dc3920de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ead612980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ead612980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ead6129809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ead6129809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24dc3920de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24dc3920de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ead6129809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ead6129809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ead6129809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ead6129809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ead61298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ead61298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813319">
            <a:off x="-1616877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 rot="-649785" flipH="1">
            <a:off x="6475477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125387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8823147">
            <a:off x="-2265377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6536238" y="-142500"/>
            <a:ext cx="4935815" cy="3769836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649785">
            <a:off x="716152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244193">
            <a:off x="4086917" y="-777268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-9555807">
            <a:off x="-6119383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723150" y="1494200"/>
            <a:ext cx="76977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00">
                <a:latin typeface="Kulim Park SemiBold"/>
                <a:ea typeface="Kulim Park SemiBold"/>
                <a:cs typeface="Kulim Park SemiBold"/>
                <a:sym typeface="Kulim Park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962550" y="3100575"/>
            <a:ext cx="521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716550" y="1929275"/>
            <a:ext cx="7410900" cy="16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723300" y="845239"/>
            <a:ext cx="14982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716550" y="3578850"/>
            <a:ext cx="74109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 rot="813319">
            <a:off x="-704002" y="2342077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 rot="-5553048">
            <a:off x="-3421688" y="1600648"/>
            <a:ext cx="5990367" cy="5613156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-1460553" flipH="1">
            <a:off x="6702382" y="-661835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3657786">
            <a:off x="7243056" y="893138"/>
            <a:ext cx="4558957" cy="1365879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3624623">
            <a:off x="5761668" y="608449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37700"/>
            <a:ext cx="77028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720000" y="1095450"/>
            <a:ext cx="7702800" cy="3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50"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-4528356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 rot="-9405665" flipH="1">
            <a:off x="6846081" y="1281156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5"/>
          <p:cNvSpPr/>
          <p:nvPr/>
        </p:nvSpPr>
        <p:spPr>
          <a:xfrm rot="1478505" flipH="1">
            <a:off x="3709533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title" idx="2"/>
          </p:nvPr>
        </p:nvSpPr>
        <p:spPr>
          <a:xfrm>
            <a:off x="4789925" y="3371526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1"/>
          </p:nvPr>
        </p:nvSpPr>
        <p:spPr>
          <a:xfrm>
            <a:off x="4789950" y="3879601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3"/>
          </p:nvPr>
        </p:nvSpPr>
        <p:spPr>
          <a:xfrm>
            <a:off x="2028750" y="3371526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2028775" y="3879601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 rot="9524149" flipH="1">
            <a:off x="-6659422" y="-2925302"/>
            <a:ext cx="9471569" cy="60490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 rot="-9555841">
            <a:off x="-6785773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 rot="3394465" flipH="1">
            <a:off x="3077084" y="34332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5867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6"/>
          <p:cNvSpPr/>
          <p:nvPr/>
        </p:nvSpPr>
        <p:spPr>
          <a:xfrm rot="3952094">
            <a:off x="4978836" y="-32116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6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6"/>
          <p:cNvSpPr/>
          <p:nvPr/>
        </p:nvSpPr>
        <p:spPr>
          <a:xfrm rot="813319">
            <a:off x="-2477752" y="-30743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6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7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 rot="813319">
            <a:off x="-2477752" y="-5055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9"/>
          <p:cNvSpPr/>
          <p:nvPr/>
        </p:nvSpPr>
        <p:spPr>
          <a:xfrm rot="3394465" flipH="1">
            <a:off x="4067684" y="51096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7010027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9"/>
          <p:cNvSpPr/>
          <p:nvPr/>
        </p:nvSpPr>
        <p:spPr>
          <a:xfrm rot="3406877">
            <a:off x="3098060" y="-32126"/>
            <a:ext cx="7826090" cy="287785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9"/>
          <p:cNvSpPr/>
          <p:nvPr/>
        </p:nvSpPr>
        <p:spPr>
          <a:xfrm rot="-649760" flipH="1">
            <a:off x="7075142" y="-713258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9"/>
          <p:cNvSpPr/>
          <p:nvPr/>
        </p:nvSpPr>
        <p:spPr>
          <a:xfrm rot="-10285603">
            <a:off x="-4701904" y="37528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9"/>
          <p:cNvSpPr/>
          <p:nvPr/>
        </p:nvSpPr>
        <p:spPr>
          <a:xfrm rot="-7426355">
            <a:off x="-5557542" y="113283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23300" y="7756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799500" y="2583500"/>
            <a:ext cx="61374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/>
          <p:nvPr/>
        </p:nvSpPr>
        <p:spPr>
          <a:xfrm rot="9339447" flipH="1">
            <a:off x="-5157706" y="21951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1118566" y="1549193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6"/>
          <p:cNvSpPr/>
          <p:nvPr/>
        </p:nvSpPr>
        <p:spPr>
          <a:xfrm flipH="1">
            <a:off x="4816263" y="1549200"/>
            <a:ext cx="1350837" cy="973145"/>
          </a:xfrm>
          <a:custGeom>
            <a:avLst/>
            <a:gdLst/>
            <a:ahLst/>
            <a:cxnLst/>
            <a:rect l="l" t="t" r="r" b="b"/>
            <a:pathLst>
              <a:path w="18827" h="13563" extrusionOk="0">
                <a:moveTo>
                  <a:pt x="7161" y="0"/>
                </a:moveTo>
                <a:cubicBezTo>
                  <a:pt x="6367" y="0"/>
                  <a:pt x="5745" y="97"/>
                  <a:pt x="5462" y="302"/>
                </a:cubicBezTo>
                <a:cubicBezTo>
                  <a:pt x="5439" y="302"/>
                  <a:pt x="5416" y="302"/>
                  <a:pt x="5393" y="302"/>
                </a:cubicBezTo>
                <a:cubicBezTo>
                  <a:pt x="1116" y="302"/>
                  <a:pt x="1" y="5785"/>
                  <a:pt x="370" y="9035"/>
                </a:cubicBezTo>
                <a:cubicBezTo>
                  <a:pt x="734" y="12239"/>
                  <a:pt x="5348" y="13486"/>
                  <a:pt x="7931" y="13560"/>
                </a:cubicBezTo>
                <a:cubicBezTo>
                  <a:pt x="7975" y="13562"/>
                  <a:pt x="8020" y="13562"/>
                  <a:pt x="8064" y="13562"/>
                </a:cubicBezTo>
                <a:cubicBezTo>
                  <a:pt x="13120" y="13562"/>
                  <a:pt x="18826" y="5169"/>
                  <a:pt x="13911" y="1714"/>
                </a:cubicBezTo>
                <a:cubicBezTo>
                  <a:pt x="12377" y="637"/>
                  <a:pt x="9200" y="0"/>
                  <a:pt x="7161" y="0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6"/>
          <p:cNvSpPr/>
          <p:nvPr/>
        </p:nvSpPr>
        <p:spPr>
          <a:xfrm flipH="1">
            <a:off x="6912085" y="1489537"/>
            <a:ext cx="1162249" cy="1032817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3050700" y="1519363"/>
            <a:ext cx="1095097" cy="973144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6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 rot="649785">
            <a:off x="6848027" y="-2440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6"/>
          <p:cNvSpPr/>
          <p:nvPr/>
        </p:nvSpPr>
        <p:spPr>
          <a:xfrm rot="813319">
            <a:off x="-4299402" y="-47175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6"/>
          <p:cNvSpPr/>
          <p:nvPr/>
        </p:nvSpPr>
        <p:spPr>
          <a:xfrm rot="9089871">
            <a:off x="7049951" y="1893780"/>
            <a:ext cx="7826200" cy="287789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 rot="-576017">
            <a:off x="-4825529" y="-672274"/>
            <a:ext cx="7826074" cy="287784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 txBox="1">
            <a:spLocks noGrp="1"/>
          </p:cNvSpPr>
          <p:nvPr>
            <p:ph type="title"/>
          </p:nvPr>
        </p:nvSpPr>
        <p:spPr>
          <a:xfrm>
            <a:off x="73277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38" name="Google Shape;138;p16"/>
          <p:cNvSpPr txBox="1">
            <a:spLocks noGrp="1"/>
          </p:cNvSpPr>
          <p:nvPr>
            <p:ph type="subTitle" idx="1"/>
          </p:nvPr>
        </p:nvSpPr>
        <p:spPr>
          <a:xfrm>
            <a:off x="73278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 idx="2" hasCustomPrompt="1"/>
          </p:nvPr>
        </p:nvSpPr>
        <p:spPr>
          <a:xfrm>
            <a:off x="73277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0" name="Google Shape;140;p16"/>
          <p:cNvSpPr txBox="1">
            <a:spLocks noGrp="1"/>
          </p:cNvSpPr>
          <p:nvPr>
            <p:ph type="title" idx="3"/>
          </p:nvPr>
        </p:nvSpPr>
        <p:spPr>
          <a:xfrm>
            <a:off x="268025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1" name="Google Shape;141;p16"/>
          <p:cNvSpPr txBox="1">
            <a:spLocks noGrp="1"/>
          </p:cNvSpPr>
          <p:nvPr>
            <p:ph type="subTitle" idx="4"/>
          </p:nvPr>
        </p:nvSpPr>
        <p:spPr>
          <a:xfrm>
            <a:off x="268026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 idx="5"/>
          </p:nvPr>
        </p:nvSpPr>
        <p:spPr>
          <a:xfrm>
            <a:off x="4627725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3" name="Google Shape;143;p16"/>
          <p:cNvSpPr txBox="1">
            <a:spLocks noGrp="1"/>
          </p:cNvSpPr>
          <p:nvPr>
            <p:ph type="subTitle" idx="6"/>
          </p:nvPr>
        </p:nvSpPr>
        <p:spPr>
          <a:xfrm>
            <a:off x="4627737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6"/>
          <p:cNvSpPr txBox="1">
            <a:spLocks noGrp="1"/>
          </p:cNvSpPr>
          <p:nvPr>
            <p:ph type="title" idx="7"/>
          </p:nvPr>
        </p:nvSpPr>
        <p:spPr>
          <a:xfrm>
            <a:off x="6575200" y="2632300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subTitle" idx="8"/>
          </p:nvPr>
        </p:nvSpPr>
        <p:spPr>
          <a:xfrm>
            <a:off x="6575212" y="3511716"/>
            <a:ext cx="18360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6"/>
          <p:cNvSpPr txBox="1">
            <a:spLocks noGrp="1"/>
          </p:cNvSpPr>
          <p:nvPr>
            <p:ph type="title" idx="9" hasCustomPrompt="1"/>
          </p:nvPr>
        </p:nvSpPr>
        <p:spPr>
          <a:xfrm>
            <a:off x="268024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7" name="Google Shape;147;p16"/>
          <p:cNvSpPr txBox="1">
            <a:spLocks noGrp="1"/>
          </p:cNvSpPr>
          <p:nvPr>
            <p:ph type="title" idx="13" hasCustomPrompt="1"/>
          </p:nvPr>
        </p:nvSpPr>
        <p:spPr>
          <a:xfrm>
            <a:off x="4627721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8" name="Google Shape;148;p16"/>
          <p:cNvSpPr txBox="1">
            <a:spLocks noGrp="1"/>
          </p:cNvSpPr>
          <p:nvPr>
            <p:ph type="title" idx="14" hasCustomPrompt="1"/>
          </p:nvPr>
        </p:nvSpPr>
        <p:spPr>
          <a:xfrm>
            <a:off x="6575196" y="1811839"/>
            <a:ext cx="1836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9" name="Google Shape;149;p16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7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 rot="-9339447">
            <a:off x="7118442" y="3216520"/>
            <a:ext cx="7471555" cy="4771732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7"/>
          <p:cNvSpPr/>
          <p:nvPr/>
        </p:nvSpPr>
        <p:spPr>
          <a:xfrm rot="10285603" flipH="1">
            <a:off x="-6088365" y="-16178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7"/>
          <p:cNvSpPr/>
          <p:nvPr/>
        </p:nvSpPr>
        <p:spPr>
          <a:xfrm rot="-649785" flipH="1">
            <a:off x="-1251909" y="-487200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7"/>
          <p:cNvSpPr/>
          <p:nvPr/>
        </p:nvSpPr>
        <p:spPr>
          <a:xfrm rot="-813319" flipH="1">
            <a:off x="7653159" y="-35663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7"/>
          <p:cNvSpPr/>
          <p:nvPr/>
        </p:nvSpPr>
        <p:spPr>
          <a:xfrm rot="-9989847" flipH="1">
            <a:off x="-4910832" y="2960605"/>
            <a:ext cx="7826215" cy="287790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7"/>
          <p:cNvSpPr/>
          <p:nvPr/>
        </p:nvSpPr>
        <p:spPr>
          <a:xfrm rot="-323977" flipH="1">
            <a:off x="6050295" y="-977077"/>
            <a:ext cx="7826148" cy="2877876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title"/>
          </p:nvPr>
        </p:nvSpPr>
        <p:spPr>
          <a:xfrm>
            <a:off x="1987675" y="1412700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8" name="Google Shape;158;p17"/>
          <p:cNvSpPr txBox="1">
            <a:spLocks noGrp="1"/>
          </p:cNvSpPr>
          <p:nvPr>
            <p:ph type="subTitle" idx="1"/>
          </p:nvPr>
        </p:nvSpPr>
        <p:spPr>
          <a:xfrm>
            <a:off x="1987700" y="2292125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title" idx="2" hasCustomPrompt="1"/>
          </p:nvPr>
        </p:nvSpPr>
        <p:spPr>
          <a:xfrm>
            <a:off x="845800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7"/>
          <p:cNvSpPr txBox="1">
            <a:spLocks noGrp="1"/>
          </p:cNvSpPr>
          <p:nvPr>
            <p:ph type="title" idx="3"/>
          </p:nvPr>
        </p:nvSpPr>
        <p:spPr>
          <a:xfrm>
            <a:off x="1928100" y="316274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subTitle" idx="4"/>
          </p:nvPr>
        </p:nvSpPr>
        <p:spPr>
          <a:xfrm>
            <a:off x="1928125" y="404217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 idx="5"/>
          </p:nvPr>
        </p:nvSpPr>
        <p:spPr>
          <a:xfrm>
            <a:off x="6000750" y="141268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6"/>
          </p:nvPr>
        </p:nvSpPr>
        <p:spPr>
          <a:xfrm>
            <a:off x="6000775" y="2292102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7"/>
          </p:nvPr>
        </p:nvSpPr>
        <p:spPr>
          <a:xfrm>
            <a:off x="5981196" y="3162738"/>
            <a:ext cx="2430000" cy="83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8"/>
          </p:nvPr>
        </p:nvSpPr>
        <p:spPr>
          <a:xfrm>
            <a:off x="5981200" y="4042161"/>
            <a:ext cx="2430000" cy="61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9" hasCustomPrompt="1"/>
          </p:nvPr>
        </p:nvSpPr>
        <p:spPr>
          <a:xfrm>
            <a:off x="8457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7" name="Google Shape;167;p17"/>
          <p:cNvSpPr txBox="1">
            <a:spLocks noGrp="1"/>
          </p:cNvSpPr>
          <p:nvPr>
            <p:ph type="title" idx="13" hasCustomPrompt="1"/>
          </p:nvPr>
        </p:nvSpPr>
        <p:spPr>
          <a:xfrm>
            <a:off x="4895098" y="18880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8" name="Google Shape;168;p17"/>
          <p:cNvSpPr txBox="1">
            <a:spLocks noGrp="1"/>
          </p:cNvSpPr>
          <p:nvPr>
            <p:ph type="title" idx="14" hasCustomPrompt="1"/>
          </p:nvPr>
        </p:nvSpPr>
        <p:spPr>
          <a:xfrm>
            <a:off x="4895098" y="3644250"/>
            <a:ext cx="812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7"/>
          <p:cNvSpPr txBox="1">
            <a:spLocks noGrp="1"/>
          </p:cNvSpPr>
          <p:nvPr>
            <p:ph type="title" idx="15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5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rot="-10285629">
            <a:off x="5828449" y="-265777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/>
          <p:nvPr/>
        </p:nvSpPr>
        <p:spPr>
          <a:xfrm flipH="1">
            <a:off x="7942003" y="1004988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3"/>
          <p:cNvSpPr/>
          <p:nvPr/>
        </p:nvSpPr>
        <p:spPr>
          <a:xfrm rot="2839443">
            <a:off x="-308418" y="2442034"/>
            <a:ext cx="6402141" cy="5689181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23"/>
          <p:cNvSpPr/>
          <p:nvPr/>
        </p:nvSpPr>
        <p:spPr>
          <a:xfrm rot="9405665">
            <a:off x="-4305365" y="1281181"/>
            <a:ext cx="7310152" cy="6849835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3"/>
          <p:cNvSpPr/>
          <p:nvPr/>
        </p:nvSpPr>
        <p:spPr>
          <a:xfrm rot="-1478505">
            <a:off x="-2334601" y="-1000036"/>
            <a:ext cx="7826136" cy="2877871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3"/>
          <p:cNvSpPr/>
          <p:nvPr/>
        </p:nvSpPr>
        <p:spPr>
          <a:xfrm rot="9555841" flipH="1">
            <a:off x="7023452" y="1808506"/>
            <a:ext cx="8200942" cy="301569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897750" y="951837"/>
            <a:ext cx="7348500" cy="153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3"/>
          <p:cNvSpPr txBox="1">
            <a:spLocks noGrp="1"/>
          </p:cNvSpPr>
          <p:nvPr>
            <p:ph type="subTitle" idx="1"/>
          </p:nvPr>
        </p:nvSpPr>
        <p:spPr>
          <a:xfrm>
            <a:off x="1732950" y="2483763"/>
            <a:ext cx="5678100" cy="170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3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 rot="4102360" flipH="1">
            <a:off x="-2758583" y="412968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 rot="813319">
            <a:off x="-431355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 txBox="1">
            <a:spLocks noGrp="1"/>
          </p:cNvSpPr>
          <p:nvPr>
            <p:ph type="subTitle" idx="1"/>
          </p:nvPr>
        </p:nvSpPr>
        <p:spPr>
          <a:xfrm>
            <a:off x="723300" y="3021075"/>
            <a:ext cx="3394200" cy="11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 flipH="1">
            <a:off x="719825" y="986925"/>
            <a:ext cx="2888400" cy="19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4"/>
          <p:cNvSpPr>
            <a:spLocks noGrp="1"/>
          </p:cNvSpPr>
          <p:nvPr>
            <p:ph type="pic" idx="2"/>
          </p:nvPr>
        </p:nvSpPr>
        <p:spPr>
          <a:xfrm>
            <a:off x="4411375" y="-75"/>
            <a:ext cx="47328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8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/>
          <p:nvPr/>
        </p:nvSpPr>
        <p:spPr>
          <a:xfrm rot="-3394465">
            <a:off x="-4398774" y="421144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"/>
          <p:cNvSpPr/>
          <p:nvPr/>
        </p:nvSpPr>
        <p:spPr>
          <a:xfrm flipH="1">
            <a:off x="-5777841" y="-12434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6"/>
          <p:cNvSpPr/>
          <p:nvPr/>
        </p:nvSpPr>
        <p:spPr>
          <a:xfrm rot="-3952094" flipH="1">
            <a:off x="-4776410" y="665034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6"/>
          <p:cNvSpPr/>
          <p:nvPr/>
        </p:nvSpPr>
        <p:spPr>
          <a:xfrm rot="649760">
            <a:off x="-4213998" y="535117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6"/>
          <p:cNvSpPr/>
          <p:nvPr/>
        </p:nvSpPr>
        <p:spPr>
          <a:xfrm rot="-813319" flipH="1">
            <a:off x="4527346" y="-3414798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6"/>
          <p:cNvSpPr/>
          <p:nvPr/>
        </p:nvSpPr>
        <p:spPr>
          <a:xfrm rot="10285603" flipH="1">
            <a:off x="4806347" y="3363742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6"/>
          <p:cNvSpPr/>
          <p:nvPr/>
        </p:nvSpPr>
        <p:spPr>
          <a:xfrm rot="5626330" flipH="1">
            <a:off x="3918525" y="675664"/>
            <a:ext cx="7826010" cy="287782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"/>
          </p:nvPr>
        </p:nvSpPr>
        <p:spPr>
          <a:xfrm>
            <a:off x="1133900" y="1868725"/>
            <a:ext cx="6223800" cy="23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title"/>
          </p:nvPr>
        </p:nvSpPr>
        <p:spPr>
          <a:xfrm>
            <a:off x="1133900" y="922175"/>
            <a:ext cx="63636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9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>
            <a:spLocks noGrp="1"/>
          </p:cNvSpPr>
          <p:nvPr>
            <p:ph type="pic" idx="2"/>
          </p:nvPr>
        </p:nvSpPr>
        <p:spPr>
          <a:xfrm>
            <a:off x="704000" y="1274500"/>
            <a:ext cx="3546900" cy="3244200"/>
          </a:xfrm>
          <a:prstGeom prst="rect">
            <a:avLst/>
          </a:prstGeom>
          <a:noFill/>
          <a:ln>
            <a:noFill/>
          </a:ln>
        </p:spPr>
      </p:sp>
      <p:sp>
        <p:nvSpPr>
          <p:cNvPr id="269" name="Google Shape;269;p31"/>
          <p:cNvSpPr/>
          <p:nvPr/>
        </p:nvSpPr>
        <p:spPr>
          <a:xfrm rot="3394465" flipH="1">
            <a:off x="5041484" y="22860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/>
          <p:nvPr/>
        </p:nvSpPr>
        <p:spPr>
          <a:xfrm rot="-10285603">
            <a:off x="7150321" y="-22663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"/>
          <p:cNvSpPr/>
          <p:nvPr/>
        </p:nvSpPr>
        <p:spPr>
          <a:xfrm rot="955394" flipH="1">
            <a:off x="1460861" y="-2197712"/>
            <a:ext cx="7826028" cy="287783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body" idx="1"/>
          </p:nvPr>
        </p:nvSpPr>
        <p:spPr>
          <a:xfrm>
            <a:off x="4572000" y="1369325"/>
            <a:ext cx="3850500" cy="333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marL="2743200" lvl="5" indent="-330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marL="3200400" lvl="6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302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title"/>
          </p:nvPr>
        </p:nvSpPr>
        <p:spPr>
          <a:xfrm>
            <a:off x="719925" y="437700"/>
            <a:ext cx="77040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ulim Park"/>
                <a:ea typeface="Kulim Park"/>
                <a:cs typeface="Kulim Park"/>
                <a:sym typeface="Kulim Par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9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>
            <a:spLocks noGrp="1"/>
          </p:cNvSpPr>
          <p:nvPr>
            <p:ph type="title"/>
          </p:nvPr>
        </p:nvSpPr>
        <p:spPr>
          <a:xfrm flipH="1">
            <a:off x="720000" y="43891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33"/>
          <p:cNvSpPr txBox="1">
            <a:spLocks noGrp="1"/>
          </p:cNvSpPr>
          <p:nvPr>
            <p:ph type="title" idx="2"/>
          </p:nvPr>
        </p:nvSpPr>
        <p:spPr>
          <a:xfrm>
            <a:off x="4572012" y="3186751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89" name="Google Shape;289;p33"/>
          <p:cNvSpPr txBox="1">
            <a:spLocks noGrp="1"/>
          </p:cNvSpPr>
          <p:nvPr>
            <p:ph type="subTitle" idx="1"/>
          </p:nvPr>
        </p:nvSpPr>
        <p:spPr>
          <a:xfrm>
            <a:off x="4572037" y="3694826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33"/>
          <p:cNvSpPr txBox="1">
            <a:spLocks noGrp="1"/>
          </p:cNvSpPr>
          <p:nvPr>
            <p:ph type="title" idx="3"/>
          </p:nvPr>
        </p:nvSpPr>
        <p:spPr>
          <a:xfrm>
            <a:off x="4572000" y="1747851"/>
            <a:ext cx="2325300" cy="48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Kulim Park"/>
                <a:ea typeface="Kulim Park"/>
                <a:cs typeface="Kulim Park"/>
                <a:sym typeface="Kulim P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91" name="Google Shape;291;p33"/>
          <p:cNvSpPr txBox="1">
            <a:spLocks noGrp="1"/>
          </p:cNvSpPr>
          <p:nvPr>
            <p:ph type="subTitle" idx="4"/>
          </p:nvPr>
        </p:nvSpPr>
        <p:spPr>
          <a:xfrm>
            <a:off x="4572025" y="2255926"/>
            <a:ext cx="23253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Manrope"/>
                <a:ea typeface="Manrope"/>
                <a:cs typeface="Manrope"/>
                <a:sym typeface="Manrop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33"/>
          <p:cNvSpPr/>
          <p:nvPr/>
        </p:nvSpPr>
        <p:spPr>
          <a:xfrm rot="-813319" flipH="1">
            <a:off x="7030742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9"/>
          <p:cNvSpPr/>
          <p:nvPr/>
        </p:nvSpPr>
        <p:spPr>
          <a:xfrm rot="-10285629">
            <a:off x="4140874" y="-2015123"/>
            <a:ext cx="9471588" cy="6049060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9"/>
          <p:cNvSpPr/>
          <p:nvPr/>
        </p:nvSpPr>
        <p:spPr>
          <a:xfrm flipH="1">
            <a:off x="6818628" y="2586663"/>
            <a:ext cx="5766771" cy="368296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dk2">
              <a:alpha val="1285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9"/>
          <p:cNvSpPr/>
          <p:nvPr/>
        </p:nvSpPr>
        <p:spPr>
          <a:xfrm rot="9748587" flipH="1">
            <a:off x="5601527" y="2021265"/>
            <a:ext cx="8200944" cy="301569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9"/>
          <p:cNvSpPr/>
          <p:nvPr/>
        </p:nvSpPr>
        <p:spPr>
          <a:xfrm rot="4102346" flipH="1">
            <a:off x="-2270967" y="3805847"/>
            <a:ext cx="9416338" cy="601377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9"/>
          <p:cNvSpPr/>
          <p:nvPr/>
        </p:nvSpPr>
        <p:spPr>
          <a:xfrm rot="813319">
            <a:off x="-3580677" y="-14257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49"/>
          <p:cNvSpPr/>
          <p:nvPr/>
        </p:nvSpPr>
        <p:spPr>
          <a:xfrm>
            <a:off x="3065327" y="-4200997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/>
          <p:nvPr/>
        </p:nvSpPr>
        <p:spPr>
          <a:xfrm rot="4102360" flipH="1">
            <a:off x="-2512533" y="4030635"/>
            <a:ext cx="7471578" cy="477174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0"/>
          <p:cNvSpPr/>
          <p:nvPr/>
        </p:nvSpPr>
        <p:spPr>
          <a:xfrm rot="813319">
            <a:off x="-4129602" y="-173702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669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0"/>
          <p:cNvSpPr/>
          <p:nvPr/>
        </p:nvSpPr>
        <p:spPr>
          <a:xfrm rot="3394465" flipH="1">
            <a:off x="5593334" y="2171418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2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0"/>
          <p:cNvSpPr/>
          <p:nvPr/>
        </p:nvSpPr>
        <p:spPr>
          <a:xfrm rot="-10285603">
            <a:off x="6336471" y="-2917283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50"/>
          <p:cNvSpPr/>
          <p:nvPr/>
        </p:nvSpPr>
        <p:spPr>
          <a:xfrm rot="-2238616">
            <a:off x="-4635728" y="470344"/>
            <a:ext cx="7826078" cy="2877850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36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1"/>
          <p:cNvSpPr/>
          <p:nvPr/>
        </p:nvSpPr>
        <p:spPr>
          <a:xfrm rot="813319">
            <a:off x="-1121291" y="-3424273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51"/>
          <p:cNvSpPr/>
          <p:nvPr/>
        </p:nvSpPr>
        <p:spPr>
          <a:xfrm rot="-649785" flipH="1">
            <a:off x="6971064" y="-7384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1620973" y="2238100"/>
            <a:ext cx="7471673" cy="4771807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51"/>
          <p:cNvSpPr/>
          <p:nvPr/>
        </p:nvSpPr>
        <p:spPr>
          <a:xfrm rot="8823147">
            <a:off x="-2081090" y="2808773"/>
            <a:ext cx="5990392" cy="5613180"/>
          </a:xfrm>
          <a:custGeom>
            <a:avLst/>
            <a:gdLst/>
            <a:ahLst/>
            <a:cxnLst/>
            <a:rect l="l" t="t" r="r" b="b"/>
            <a:pathLst>
              <a:path w="93299" h="87424" extrusionOk="0">
                <a:moveTo>
                  <a:pt x="34162" y="1"/>
                </a:moveTo>
                <a:cubicBezTo>
                  <a:pt x="24245" y="1"/>
                  <a:pt x="25039" y="12520"/>
                  <a:pt x="13717" y="17147"/>
                </a:cubicBezTo>
                <a:cubicBezTo>
                  <a:pt x="1" y="22753"/>
                  <a:pt x="25599" y="33483"/>
                  <a:pt x="18923" y="50349"/>
                </a:cubicBezTo>
                <a:cubicBezTo>
                  <a:pt x="13077" y="65115"/>
                  <a:pt x="23069" y="87424"/>
                  <a:pt x="32143" y="87424"/>
                </a:cubicBezTo>
                <a:cubicBezTo>
                  <a:pt x="33432" y="87424"/>
                  <a:pt x="34703" y="86974"/>
                  <a:pt x="35906" y="85988"/>
                </a:cubicBezTo>
                <a:cubicBezTo>
                  <a:pt x="38841" y="83585"/>
                  <a:pt x="41192" y="82952"/>
                  <a:pt x="43240" y="82952"/>
                </a:cubicBezTo>
                <a:cubicBezTo>
                  <a:pt x="45526" y="82952"/>
                  <a:pt x="47435" y="83741"/>
                  <a:pt x="49356" y="83741"/>
                </a:cubicBezTo>
                <a:cubicBezTo>
                  <a:pt x="51391" y="83741"/>
                  <a:pt x="53441" y="82856"/>
                  <a:pt x="55968" y="79208"/>
                </a:cubicBezTo>
                <a:cubicBezTo>
                  <a:pt x="79663" y="45004"/>
                  <a:pt x="87416" y="44135"/>
                  <a:pt x="87416" y="44135"/>
                </a:cubicBezTo>
                <a:cubicBezTo>
                  <a:pt x="93298" y="21497"/>
                  <a:pt x="60858" y="9397"/>
                  <a:pt x="42111" y="1875"/>
                </a:cubicBezTo>
                <a:cubicBezTo>
                  <a:pt x="38838" y="561"/>
                  <a:pt x="36260" y="1"/>
                  <a:pt x="34162" y="1"/>
                </a:cubicBezTo>
                <a:close/>
              </a:path>
            </a:pathLst>
          </a:custGeom>
          <a:solidFill>
            <a:schemeClr val="accent3">
              <a:alpha val="335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1"/>
          <p:cNvSpPr/>
          <p:nvPr/>
        </p:nvSpPr>
        <p:spPr>
          <a:xfrm rot="-8100000">
            <a:off x="7300672" y="494176"/>
            <a:ext cx="4935837" cy="3769884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1"/>
          <p:cNvSpPr/>
          <p:nvPr/>
        </p:nvSpPr>
        <p:spPr>
          <a:xfrm rot="649785">
            <a:off x="1211739" y="4401125"/>
            <a:ext cx="4558897" cy="1365861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rgbClr val="AC9078">
              <a:alpha val="128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1"/>
          <p:cNvSpPr/>
          <p:nvPr/>
        </p:nvSpPr>
        <p:spPr>
          <a:xfrm rot="2128845">
            <a:off x="3591964" y="-1767729"/>
            <a:ext cx="7826192" cy="2877892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51"/>
          <p:cNvSpPr/>
          <p:nvPr/>
        </p:nvSpPr>
        <p:spPr>
          <a:xfrm rot="-9555807">
            <a:off x="-5772621" y="2297294"/>
            <a:ext cx="7826096" cy="2877857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7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2"/>
          <p:cNvSpPr/>
          <p:nvPr/>
        </p:nvSpPr>
        <p:spPr>
          <a:xfrm rot="-7405535" flipH="1">
            <a:off x="-3234670" y="-3952493"/>
            <a:ext cx="8703343" cy="5558223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52"/>
          <p:cNvSpPr/>
          <p:nvPr/>
        </p:nvSpPr>
        <p:spPr>
          <a:xfrm rot="10800000">
            <a:off x="-4386762" y="886054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52"/>
          <p:cNvSpPr/>
          <p:nvPr/>
        </p:nvSpPr>
        <p:spPr>
          <a:xfrm rot="-6847906">
            <a:off x="-4259206" y="2193197"/>
            <a:ext cx="7826127" cy="287786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52"/>
          <p:cNvSpPr/>
          <p:nvPr/>
        </p:nvSpPr>
        <p:spPr>
          <a:xfrm rot="10150240" flipH="1">
            <a:off x="-3503869" y="4261834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accent3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52"/>
          <p:cNvSpPr/>
          <p:nvPr/>
        </p:nvSpPr>
        <p:spPr>
          <a:xfrm rot="-9986681">
            <a:off x="4621400" y="2424119"/>
            <a:ext cx="6402109" cy="5689153"/>
          </a:xfrm>
          <a:custGeom>
            <a:avLst/>
            <a:gdLst/>
            <a:ahLst/>
            <a:cxnLst/>
            <a:rect l="l" t="t" r="r" b="b"/>
            <a:pathLst>
              <a:path w="31788" h="28248" extrusionOk="0">
                <a:moveTo>
                  <a:pt x="16729" y="0"/>
                </a:moveTo>
                <a:cubicBezTo>
                  <a:pt x="16601" y="0"/>
                  <a:pt x="16474" y="1"/>
                  <a:pt x="16346" y="2"/>
                </a:cubicBezTo>
                <a:cubicBezTo>
                  <a:pt x="16060" y="2"/>
                  <a:pt x="15764" y="5"/>
                  <a:pt x="15461" y="9"/>
                </a:cubicBezTo>
                <a:cubicBezTo>
                  <a:pt x="11690" y="44"/>
                  <a:pt x="7009" y="207"/>
                  <a:pt x="4237" y="2881"/>
                </a:cubicBezTo>
                <a:cubicBezTo>
                  <a:pt x="2392" y="4661"/>
                  <a:pt x="2135" y="8048"/>
                  <a:pt x="1618" y="10410"/>
                </a:cubicBezTo>
                <a:cubicBezTo>
                  <a:pt x="938" y="13517"/>
                  <a:pt x="381" y="16657"/>
                  <a:pt x="219" y="19839"/>
                </a:cubicBezTo>
                <a:cubicBezTo>
                  <a:pt x="1" y="24133"/>
                  <a:pt x="1988" y="26141"/>
                  <a:pt x="6130" y="26720"/>
                </a:cubicBezTo>
                <a:cubicBezTo>
                  <a:pt x="9755" y="27227"/>
                  <a:pt x="13382" y="27712"/>
                  <a:pt x="17036" y="27956"/>
                </a:cubicBezTo>
                <a:cubicBezTo>
                  <a:pt x="18561" y="28056"/>
                  <a:pt x="20165" y="28248"/>
                  <a:pt x="21749" y="28248"/>
                </a:cubicBezTo>
                <a:cubicBezTo>
                  <a:pt x="23047" y="28248"/>
                  <a:pt x="24332" y="28119"/>
                  <a:pt x="25547" y="27706"/>
                </a:cubicBezTo>
                <a:cubicBezTo>
                  <a:pt x="28287" y="26775"/>
                  <a:pt x="29435" y="24198"/>
                  <a:pt x="29933" y="21508"/>
                </a:cubicBezTo>
                <a:cubicBezTo>
                  <a:pt x="30554" y="18140"/>
                  <a:pt x="30847" y="14721"/>
                  <a:pt x="31348" y="11337"/>
                </a:cubicBezTo>
                <a:cubicBezTo>
                  <a:pt x="31787" y="8393"/>
                  <a:pt x="31569" y="5097"/>
                  <a:pt x="28963" y="3194"/>
                </a:cubicBezTo>
                <a:cubicBezTo>
                  <a:pt x="25477" y="645"/>
                  <a:pt x="20958" y="0"/>
                  <a:pt x="16729" y="0"/>
                </a:cubicBezTo>
                <a:close/>
              </a:path>
            </a:pathLst>
          </a:custGeom>
          <a:solidFill>
            <a:schemeClr val="dk2">
              <a:alpha val="67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52"/>
          <p:cNvSpPr/>
          <p:nvPr/>
        </p:nvSpPr>
        <p:spPr>
          <a:xfrm rot="514397">
            <a:off x="5775901" y="-3485758"/>
            <a:ext cx="7471761" cy="4771864"/>
          </a:xfrm>
          <a:custGeom>
            <a:avLst/>
            <a:gdLst/>
            <a:ahLst/>
            <a:cxnLst/>
            <a:rect l="l" t="t" r="r" b="b"/>
            <a:pathLst>
              <a:path w="87791" h="56068" extrusionOk="0">
                <a:moveTo>
                  <a:pt x="55192" y="1"/>
                </a:moveTo>
                <a:cubicBezTo>
                  <a:pt x="51710" y="1"/>
                  <a:pt x="48020" y="921"/>
                  <a:pt x="44301" y="3305"/>
                </a:cubicBezTo>
                <a:cubicBezTo>
                  <a:pt x="27981" y="13772"/>
                  <a:pt x="23752" y="23750"/>
                  <a:pt x="23752" y="23750"/>
                </a:cubicBezTo>
                <a:cubicBezTo>
                  <a:pt x="23752" y="23750"/>
                  <a:pt x="23199" y="30455"/>
                  <a:pt x="15945" y="30455"/>
                </a:cubicBezTo>
                <a:cubicBezTo>
                  <a:pt x="15648" y="30455"/>
                  <a:pt x="15339" y="30443"/>
                  <a:pt x="15019" y="30420"/>
                </a:cubicBezTo>
                <a:cubicBezTo>
                  <a:pt x="13947" y="30341"/>
                  <a:pt x="12915" y="30303"/>
                  <a:pt x="11930" y="30303"/>
                </a:cubicBezTo>
                <a:cubicBezTo>
                  <a:pt x="5447" y="30303"/>
                  <a:pt x="1013" y="31926"/>
                  <a:pt x="541" y="33999"/>
                </a:cubicBezTo>
                <a:cubicBezTo>
                  <a:pt x="1" y="36384"/>
                  <a:pt x="5151" y="43216"/>
                  <a:pt x="11333" y="45926"/>
                </a:cubicBezTo>
                <a:cubicBezTo>
                  <a:pt x="16519" y="48202"/>
                  <a:pt x="23841" y="53453"/>
                  <a:pt x="30900" y="53453"/>
                </a:cubicBezTo>
                <a:cubicBezTo>
                  <a:pt x="32256" y="53453"/>
                  <a:pt x="33602" y="53259"/>
                  <a:pt x="34921" y="52814"/>
                </a:cubicBezTo>
                <a:cubicBezTo>
                  <a:pt x="43110" y="50048"/>
                  <a:pt x="85188" y="56067"/>
                  <a:pt x="86489" y="38010"/>
                </a:cubicBezTo>
                <a:cubicBezTo>
                  <a:pt x="87791" y="19953"/>
                  <a:pt x="76403" y="10573"/>
                  <a:pt x="76403" y="10573"/>
                </a:cubicBezTo>
                <a:cubicBezTo>
                  <a:pt x="76403" y="10573"/>
                  <a:pt x="66995" y="1"/>
                  <a:pt x="55192" y="1"/>
                </a:cubicBezTo>
                <a:close/>
              </a:path>
            </a:pathLst>
          </a:custGeom>
          <a:solidFill>
            <a:schemeClr val="accent1"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52"/>
          <p:cNvSpPr/>
          <p:nvPr/>
        </p:nvSpPr>
        <p:spPr>
          <a:xfrm rot="3373645">
            <a:off x="6277252" y="1028280"/>
            <a:ext cx="7826046" cy="2877838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1075" y="438900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Kulim Park"/>
              <a:buNone/>
              <a:defRPr sz="28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lim Park"/>
              <a:buNone/>
              <a:defRPr sz="3500">
                <a:solidFill>
                  <a:schemeClr val="dk1"/>
                </a:solidFill>
                <a:latin typeface="Kulim Park"/>
                <a:ea typeface="Kulim Park"/>
                <a:cs typeface="Kulim Park"/>
                <a:sym typeface="Kulim P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1075" y="1351868"/>
            <a:ext cx="77019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●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○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nrope"/>
              <a:buChar char="■"/>
              <a:defRPr sz="16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8" r:id="rId8"/>
    <p:sldLayoutId id="2147483662" r:id="rId9"/>
    <p:sldLayoutId id="2147483663" r:id="rId10"/>
    <p:sldLayoutId id="2147483669" r:id="rId11"/>
    <p:sldLayoutId id="2147483670" r:id="rId12"/>
    <p:sldLayoutId id="2147483672" r:id="rId13"/>
    <p:sldLayoutId id="2147483677" r:id="rId14"/>
    <p:sldLayoutId id="2147483679" r:id="rId15"/>
    <p:sldLayoutId id="2147483695" r:id="rId16"/>
    <p:sldLayoutId id="2147483696" r:id="rId17"/>
    <p:sldLayoutId id="2147483697" r:id="rId18"/>
    <p:sldLayoutId id="2147483698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patrickb1912/ipl-complete-dataset-20082020/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8"/>
          <p:cNvSpPr txBox="1">
            <a:spLocks noGrp="1"/>
          </p:cNvSpPr>
          <p:nvPr>
            <p:ph type="ctrTitle"/>
          </p:nvPr>
        </p:nvSpPr>
        <p:spPr>
          <a:xfrm>
            <a:off x="714348" y="1000114"/>
            <a:ext cx="7697700" cy="15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6000" dirty="0" smtClean="0">
                <a:latin typeface="Georgia" pitchFamily="18" charset="0"/>
                <a:ea typeface="Kulim Park"/>
                <a:cs typeface="Kulim Park"/>
                <a:sym typeface="Kulim Park"/>
              </a:rPr>
              <a:t>Data Analysis </a:t>
            </a:r>
            <a:r>
              <a:rPr lang="en-US" sz="6000" dirty="0" smtClean="0">
                <a:latin typeface="Georgia" pitchFamily="18" charset="0"/>
                <a:ea typeface="Kulim Park"/>
                <a:cs typeface="Kulim Park"/>
                <a:sym typeface="Kulim Park"/>
              </a:rPr>
              <a:t>Challenge</a:t>
            </a:r>
            <a:br>
              <a:rPr lang="en-US" sz="6000" dirty="0" smtClean="0">
                <a:latin typeface="Georgia" pitchFamily="18" charset="0"/>
                <a:ea typeface="Kulim Park"/>
                <a:cs typeface="Kulim Park"/>
                <a:sym typeface="Kulim Park"/>
              </a:rPr>
            </a:br>
            <a:r>
              <a:rPr lang="en-US" sz="6000" dirty="0" smtClean="0">
                <a:latin typeface="Georgia" pitchFamily="18" charset="0"/>
                <a:ea typeface="Kulim Park"/>
                <a:cs typeface="Kulim Park"/>
                <a:sym typeface="Kulim Park"/>
              </a:rPr>
              <a:t/>
            </a:r>
            <a:br>
              <a:rPr lang="en-US" sz="6000" dirty="0" smtClean="0">
                <a:latin typeface="Georgia" pitchFamily="18" charset="0"/>
                <a:ea typeface="Kulim Park"/>
                <a:cs typeface="Kulim Park"/>
                <a:sym typeface="Kulim Park"/>
              </a:rPr>
            </a:br>
            <a:r>
              <a:rPr lang="en-US" sz="2400" dirty="0" smtClean="0">
                <a:latin typeface="Georgia" pitchFamily="18" charset="0"/>
                <a:ea typeface="Kulim Park"/>
                <a:cs typeface="Kulim Park"/>
                <a:sym typeface="Kulim Park"/>
              </a:rPr>
              <a:t>IPL DATASET</a:t>
            </a:r>
            <a:endParaRPr sz="2400">
              <a:solidFill>
                <a:schemeClr val="dk2"/>
              </a:solidFill>
              <a:latin typeface="Georgia" pitchFamily="18" charset="0"/>
              <a:ea typeface="Kulim Park"/>
              <a:cs typeface="Kulim Park"/>
              <a:sym typeface="Kulim Park"/>
            </a:endParaRPr>
          </a:p>
        </p:txBody>
      </p:sp>
      <p:sp>
        <p:nvSpPr>
          <p:cNvPr id="561" name="Google Shape;561;p58"/>
          <p:cNvSpPr txBox="1">
            <a:spLocks noGrp="1"/>
          </p:cNvSpPr>
          <p:nvPr>
            <p:ph type="subTitle" idx="1"/>
          </p:nvPr>
        </p:nvSpPr>
        <p:spPr>
          <a:xfrm>
            <a:off x="2143108" y="3857634"/>
            <a:ext cx="52185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Member: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Sri Dharshini 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9"/>
          <p:cNvSpPr txBox="1">
            <a:spLocks noGrp="1"/>
          </p:cNvSpPr>
          <p:nvPr>
            <p:ph type="title"/>
          </p:nvPr>
        </p:nvSpPr>
        <p:spPr>
          <a:xfrm flipH="1">
            <a:off x="719925" y="437700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ABOUT THE DATASET</a:t>
            </a:r>
            <a:endParaRPr/>
          </a:p>
        </p:txBody>
      </p:sp>
      <p:sp>
        <p:nvSpPr>
          <p:cNvPr id="567" name="Google Shape;567;p59"/>
          <p:cNvSpPr txBox="1"/>
          <p:nvPr/>
        </p:nvSpPr>
        <p:spPr>
          <a:xfrm>
            <a:off x="714348" y="1142990"/>
            <a:ext cx="7717500" cy="350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1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ea typeface="Manrope"/>
                <a:cs typeface="Times New Roman" pitchFamily="18" charset="0"/>
                <a:sym typeface="Manrope"/>
              </a:rPr>
              <a:t>Dataset link : </a:t>
            </a:r>
            <a:r>
              <a:rPr lang="en-US" sz="11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ea typeface="Manrope"/>
                <a:cs typeface="Times New Roman" pitchFamily="18" charset="0"/>
                <a:sym typeface="Manrope"/>
                <a:hlinkClick r:id="rId3"/>
              </a:rPr>
              <a:t>https://</a:t>
            </a:r>
            <a:r>
              <a:rPr lang="en-US" sz="1100" b="1" dirty="0" smtClean="0">
                <a:solidFill>
                  <a:schemeClr val="accent3">
                    <a:lumMod val="75000"/>
                  </a:schemeClr>
                </a:solidFill>
                <a:latin typeface="Times New Roman" pitchFamily="18" charset="0"/>
                <a:ea typeface="Manrope"/>
                <a:cs typeface="Times New Roman" pitchFamily="18" charset="0"/>
                <a:sym typeface="Manrope"/>
                <a:hlinkClick r:id="rId3"/>
              </a:rPr>
              <a:t>www.kaggle.com/datasets/patrickb1912/ipl-complete-dataset-20082020/data</a:t>
            </a:r>
            <a:endParaRPr lang="en-US" sz="1100" b="1" dirty="0" smtClean="0">
              <a:solidFill>
                <a:schemeClr val="accent3">
                  <a:lumMod val="75000"/>
                </a:schemeClr>
              </a:solidFill>
              <a:latin typeface="Times New Roman" pitchFamily="18" charset="0"/>
              <a:ea typeface="Manrope"/>
              <a:cs typeface="Times New Roman" pitchFamily="18" charset="0"/>
              <a:sym typeface="Manrope"/>
            </a:endParaRPr>
          </a:p>
          <a:p>
            <a:pPr lvl="0" algn="ctr"/>
            <a:endParaRPr lang="en-US" sz="1100" b="1" dirty="0" smtClean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dataset, </a:t>
            </a:r>
            <a:r>
              <a:rPr lang="en-US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curated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by Patrick </a:t>
            </a:r>
            <a:r>
              <a:rPr lang="en-US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Bhardwaj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on </a:t>
            </a:r>
            <a:r>
              <a:rPr lang="en-US" sz="12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Kaggle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provides comprehensive data from 13 IPL seasons (2008–2020). It includes detailed records of all matches and individual ball-by-ball deliveries played during this period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ea typeface="Manrope"/>
              <a:cs typeface="Times New Roman" pitchFamily="18" charset="0"/>
              <a:sym typeface="Manrope"/>
            </a:endParaRPr>
          </a:p>
          <a:p>
            <a:pPr>
              <a:lnSpc>
                <a:spcPct val="150000"/>
              </a:lnSpc>
            </a:pPr>
            <a:r>
              <a:rPr lang="en-US" sz="12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Dataset Components</a:t>
            </a:r>
            <a:r>
              <a:rPr lang="en-US" sz="12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1200" b="1" u="sng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matches.csv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High-level 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summary of each IPL match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Includes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match date, teams, toss details, venue, winner, result, player of the match, and 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umpires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deliveries.csv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Ball-by-ball 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for every delivery in each match</a:t>
            </a:r>
          </a:p>
          <a:p>
            <a:pPr lvl="1"/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Includes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over/ball number, batter, bowler, runs scored, dismissals, extras, and </a:t>
            </a:r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fielders</a:t>
            </a:r>
          </a:p>
          <a:p>
            <a:pPr lvl="1"/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100" dirty="0" smtClean="0">
              <a:solidFill>
                <a:schemeClr val="accent3">
                  <a:lumMod val="75000"/>
                </a:schemeClr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/>
            <a:endParaRPr lang="en-US" sz="1100" b="1" dirty="0" smtClean="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lvl="0"/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0"/>
          <p:cNvSpPr txBox="1">
            <a:spLocks noGrp="1"/>
          </p:cNvSpPr>
          <p:nvPr>
            <p:ph type="title" idx="15"/>
          </p:nvPr>
        </p:nvSpPr>
        <p:spPr>
          <a:xfrm flipH="1">
            <a:off x="714348" y="214296"/>
            <a:ext cx="7704000" cy="65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lt1"/>
                </a:solidFill>
              </a:rPr>
              <a:t>UNDERSTANDING THE DATASET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928662" y="857238"/>
            <a:ext cx="7553989" cy="357190"/>
          </a:xfrm>
        </p:spPr>
        <p:txBody>
          <a:bodyPr/>
          <a:lstStyle/>
          <a:p>
            <a:pPr algn="l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To start the data analysis first we should understand the data. Let’s review the dataset’s columns and their meanings</a:t>
            </a:r>
          </a:p>
          <a:p>
            <a:pPr algn="l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                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1714494"/>
            <a:ext cx="2928958" cy="3324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1785932"/>
            <a:ext cx="3310816" cy="30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1071538" y="1285866"/>
            <a:ext cx="32147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 Unicode MS" pitchFamily="34" charset="-128"/>
                <a:cs typeface="Arial" pitchFamily="34" charset="0"/>
              </a:rPr>
              <a:t>matches.csv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 –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Arial" pitchFamily="34" charset="0"/>
                <a:cs typeface="Arial" pitchFamily="34" charset="0"/>
              </a:rPr>
              <a:t>Match-level Summary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</a:rPr>
              <a:t>This file contains one row per </a:t>
            </a: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</a:rPr>
              <a:t>match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5072066" y="1285866"/>
            <a:ext cx="335758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</a:rPr>
              <a:t>deliveries.csv – </a:t>
            </a:r>
            <a:r>
              <a:rPr lang="en-US" sz="1200" b="1" dirty="0" smtClean="0">
                <a:solidFill>
                  <a:schemeClr val="accent3">
                    <a:lumMod val="75000"/>
                  </a:schemeClr>
                </a:solidFill>
              </a:rPr>
              <a:t>Ball-by-Ball </a:t>
            </a:r>
            <a:r>
              <a:rPr lang="en-US" sz="1200" b="1" dirty="0" smtClean="0">
                <a:solidFill>
                  <a:schemeClr val="accent3">
                    <a:lumMod val="75000"/>
                  </a:schemeClr>
                </a:solidFill>
              </a:rPr>
              <a:t>Details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dirty="0" smtClean="0">
                <a:solidFill>
                  <a:schemeClr val="accent3">
                    <a:lumMod val="75000"/>
                  </a:schemeClr>
                </a:solidFill>
              </a:rPr>
              <a:t>This file contains one row per delivery (ball)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accent3">
                  <a:lumMod val="75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500034" y="357172"/>
            <a:ext cx="1478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In matches.csv :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587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857370"/>
            <a:ext cx="1643074" cy="218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71736" y="1857370"/>
            <a:ext cx="1661373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872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472" y="785800"/>
            <a:ext cx="8072495" cy="917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500034" y="357172"/>
            <a:ext cx="15584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In deliveries.csv :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242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714362"/>
            <a:ext cx="7643866" cy="103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42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1928808"/>
            <a:ext cx="1714512" cy="20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736" y="1928808"/>
            <a:ext cx="1908004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3"/>
          <p:cNvSpPr txBox="1">
            <a:spLocks noGrp="1"/>
          </p:cNvSpPr>
          <p:nvPr>
            <p:ph type="title"/>
          </p:nvPr>
        </p:nvSpPr>
        <p:spPr>
          <a:xfrm>
            <a:off x="1285852" y="71420"/>
            <a:ext cx="6363600" cy="5715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3200" dirty="0" smtClean="0"/>
              <a:t>EXPLORATORY DATA ANALYSIS</a:t>
            </a:r>
            <a:endParaRPr lang="en-US" sz="3000" dirty="0"/>
          </a:p>
        </p:txBody>
      </p:sp>
      <p:sp>
        <p:nvSpPr>
          <p:cNvPr id="4" name="TextBox 3"/>
          <p:cNvSpPr txBox="1"/>
          <p:nvPr/>
        </p:nvSpPr>
        <p:spPr>
          <a:xfrm>
            <a:off x="428596" y="857238"/>
            <a:ext cx="64294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Cleaning :</a:t>
            </a:r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 step of data cleaning is to check for null  and duplicate values and then handle them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Null values were found and treated and there are no duplicate values</a:t>
            </a:r>
            <a:endParaRPr lang="en-US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55649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571618"/>
            <a:ext cx="1726924" cy="2943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428596" y="571486"/>
            <a:ext cx="157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matches.csv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5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14546" y="2071684"/>
            <a:ext cx="4526212" cy="1595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2571736" y="3714758"/>
            <a:ext cx="371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Code to treat the null values by replacing the null values with suitable values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282" y="4572014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Before Cleaning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15206" y="4572014"/>
            <a:ext cx="16430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After Cleaning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000892" y="1571618"/>
            <a:ext cx="203656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7" name="Straight Arrow Connector 16"/>
          <p:cNvCxnSpPr/>
          <p:nvPr/>
        </p:nvCxnSpPr>
        <p:spPr>
          <a:xfrm>
            <a:off x="2000232" y="2786064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6786578" y="2786064"/>
            <a:ext cx="14287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214296"/>
            <a:ext cx="84296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Next step is to check for outliers and treat them 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nd convert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'date' column to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datetime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Outliers sometimes help in data analysis to analyze the extreme values so here the outliers in wicket margin and run margin are kept as such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Check for unique values</a:t>
            </a: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The dataset contains team name variations and old/renamed franchises. For accurate analysis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should unify team names.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endParaRPr lang="en-US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63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642924"/>
            <a:ext cx="2714644" cy="1909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630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5" y="642924"/>
            <a:ext cx="2786082" cy="193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630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20" y="3214692"/>
            <a:ext cx="8632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631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85720" y="3571882"/>
            <a:ext cx="8643998" cy="1492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631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85720" y="3714758"/>
            <a:ext cx="3457576" cy="167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6314" name="Picture 10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42910" y="4143386"/>
            <a:ext cx="3126948" cy="73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214296"/>
            <a:ext cx="84296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Descriptive 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Statistics</a:t>
            </a:r>
            <a:r>
              <a:rPr lang="en-US" sz="1200" dirty="0" smtClean="0"/>
              <a:t>: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-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 mean, median, mode etc., and summarize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categorical features with value counts</a:t>
            </a:r>
            <a:r>
              <a:rPr lang="en-US" dirty="0" smtClean="0"/>
              <a:t>.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8354" name="Picture 2"/>
          <p:cNvPicPr>
            <a:picLocks noChangeAspect="1" noChangeArrowheads="1"/>
          </p:cNvPicPr>
          <p:nvPr/>
        </p:nvPicPr>
        <p:blipFill>
          <a:blip r:embed="rId3"/>
          <a:srcRect b="58058"/>
          <a:stretch>
            <a:fillRect/>
          </a:stretch>
        </p:blipFill>
        <p:spPr bwMode="auto">
          <a:xfrm>
            <a:off x="2000232" y="3571882"/>
            <a:ext cx="178595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8355" name="Picture 3"/>
          <p:cNvPicPr>
            <a:picLocks noChangeAspect="1" noChangeArrowheads="1"/>
          </p:cNvPicPr>
          <p:nvPr/>
        </p:nvPicPr>
        <p:blipFill>
          <a:blip r:embed="rId4"/>
          <a:srcRect r="3448" b="2237"/>
          <a:stretch>
            <a:fillRect/>
          </a:stretch>
        </p:blipFill>
        <p:spPr bwMode="auto">
          <a:xfrm>
            <a:off x="2000232" y="714362"/>
            <a:ext cx="2000264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8356" name="Picture 4"/>
          <p:cNvPicPr>
            <a:picLocks noChangeAspect="1" noChangeArrowheads="1"/>
          </p:cNvPicPr>
          <p:nvPr/>
        </p:nvPicPr>
        <p:blipFill>
          <a:blip r:embed="rId5"/>
          <a:srcRect r="8333" b="5128"/>
          <a:stretch>
            <a:fillRect/>
          </a:stretch>
        </p:blipFill>
        <p:spPr bwMode="auto">
          <a:xfrm>
            <a:off x="4000496" y="714362"/>
            <a:ext cx="157163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8357" name="Picture 5"/>
          <p:cNvPicPr>
            <a:picLocks noChangeAspect="1" noChangeArrowheads="1"/>
          </p:cNvPicPr>
          <p:nvPr/>
        </p:nvPicPr>
        <p:blipFill>
          <a:blip r:embed="rId6"/>
          <a:srcRect r="4918" b="3393"/>
          <a:stretch>
            <a:fillRect/>
          </a:stretch>
        </p:blipFill>
        <p:spPr bwMode="auto">
          <a:xfrm>
            <a:off x="7429520" y="714362"/>
            <a:ext cx="1643042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8358" name="Picture 6"/>
          <p:cNvPicPr>
            <a:picLocks noChangeAspect="1" noChangeArrowheads="1"/>
          </p:cNvPicPr>
          <p:nvPr/>
        </p:nvPicPr>
        <p:blipFill>
          <a:blip r:embed="rId7"/>
          <a:srcRect r="9298"/>
          <a:stretch>
            <a:fillRect/>
          </a:stretch>
        </p:blipFill>
        <p:spPr bwMode="auto">
          <a:xfrm>
            <a:off x="5572132" y="714362"/>
            <a:ext cx="1857387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Connector 15"/>
          <p:cNvCxnSpPr/>
          <p:nvPr/>
        </p:nvCxnSpPr>
        <p:spPr>
          <a:xfrm rot="5400000">
            <a:off x="2678893" y="2035965"/>
            <a:ext cx="2643206" cy="15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4251323" y="2035171"/>
            <a:ext cx="2643206" cy="15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6108711" y="2035171"/>
            <a:ext cx="2643206" cy="158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/>
          <a:srcRect t="38946" b="28100"/>
          <a:stretch>
            <a:fillRect/>
          </a:stretch>
        </p:blipFill>
        <p:spPr bwMode="auto">
          <a:xfrm>
            <a:off x="4000496" y="3643320"/>
            <a:ext cx="1785950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/>
          <a:srcRect t="71900"/>
          <a:stretch>
            <a:fillRect/>
          </a:stretch>
        </p:blipFill>
        <p:spPr bwMode="auto">
          <a:xfrm>
            <a:off x="6072198" y="3714758"/>
            <a:ext cx="1785950" cy="670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/>
          <p:cNvSpPr txBox="1"/>
          <p:nvPr/>
        </p:nvSpPr>
        <p:spPr>
          <a:xfrm>
            <a:off x="571472" y="1500180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Categorical values count and their summaries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2910" y="3786196"/>
            <a:ext cx="1143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Numerical Statistics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1714480" y="185737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714480" y="4000510"/>
            <a:ext cx="28575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0"/>
            <a:ext cx="84296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Now let us find a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omprehensive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team performance analysis — not just wins, but also losses and win/loss percentages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STEP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1: Total Matches Played Per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Team</a:t>
            </a: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STEP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2: Total Wins Per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Team </a:t>
            </a: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STEP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3: Merge Wins and Total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Matches to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Get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Win/Loss %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STEP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4: Add Margin Stats for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Wins</a:t>
            </a: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Losses</a:t>
            </a: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7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STEP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5: Combine All Stats</a:t>
            </a:r>
          </a:p>
          <a:p>
            <a:pPr lvl="3"/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93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3214692"/>
            <a:ext cx="3582862" cy="178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4744" y="3214692"/>
            <a:ext cx="3214710" cy="179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29454" y="3214692"/>
            <a:ext cx="1143008" cy="179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81" name="Picture 5"/>
          <p:cNvPicPr>
            <a:picLocks noChangeAspect="1" noChangeArrowheads="1"/>
          </p:cNvPicPr>
          <p:nvPr/>
        </p:nvPicPr>
        <p:blipFill>
          <a:blip r:embed="rId6"/>
          <a:srcRect b="4435"/>
          <a:stretch>
            <a:fillRect/>
          </a:stretch>
        </p:blipFill>
        <p:spPr bwMode="auto">
          <a:xfrm>
            <a:off x="3143240" y="214296"/>
            <a:ext cx="332105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82" name="Picture 6"/>
          <p:cNvPicPr>
            <a:picLocks noChangeAspect="1" noChangeArrowheads="1"/>
          </p:cNvPicPr>
          <p:nvPr/>
        </p:nvPicPr>
        <p:blipFill>
          <a:blip r:embed="rId7"/>
          <a:srcRect b="12629"/>
          <a:stretch>
            <a:fillRect/>
          </a:stretch>
        </p:blipFill>
        <p:spPr bwMode="auto">
          <a:xfrm>
            <a:off x="3143240" y="928676"/>
            <a:ext cx="3786214" cy="406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83" name="Picture 7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43240" y="1357304"/>
            <a:ext cx="4643470" cy="581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9384" name="Picture 8"/>
          <p:cNvPicPr>
            <a:picLocks noChangeAspect="1" noChangeArrowheads="1"/>
          </p:cNvPicPr>
          <p:nvPr/>
        </p:nvPicPr>
        <p:blipFill>
          <a:blip r:embed="rId9"/>
          <a:srcRect b="73214"/>
          <a:stretch>
            <a:fillRect/>
          </a:stretch>
        </p:blipFill>
        <p:spPr bwMode="auto">
          <a:xfrm>
            <a:off x="3143240" y="2000246"/>
            <a:ext cx="4429156" cy="571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9"/>
          <a:srcRect t="71430"/>
          <a:stretch>
            <a:fillRect/>
          </a:stretch>
        </p:blipFill>
        <p:spPr bwMode="auto">
          <a:xfrm>
            <a:off x="3143240" y="2571750"/>
            <a:ext cx="4429156" cy="620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20"/>
            <a:ext cx="842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Visual Analysis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3"/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1200" b="1" u="sng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5" y="428610"/>
            <a:ext cx="3677290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2714626"/>
            <a:ext cx="3643338" cy="2267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0405" name="Rectangle 5"/>
          <p:cNvSpPr>
            <a:spLocks noChangeArrowheads="1"/>
          </p:cNvSpPr>
          <p:nvPr/>
        </p:nvSpPr>
        <p:spPr bwMode="auto">
          <a:xfrm>
            <a:off x="4286248" y="500048"/>
            <a:ext cx="4500594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1. Distribution of Victory Margins (Runs)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Insight: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Most IPL matches won by runs have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small to moderate margins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Observation: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Majority of matches are won by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less than 40 runs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Wins by large margins (e.g., 80+ runs) are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rare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Conclusion: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IPL matches tend to be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closely contested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emphasizing the league’s competitive nature.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30407" name="Rectangle 7"/>
          <p:cNvSpPr>
            <a:spLocks noChangeArrowheads="1"/>
          </p:cNvSpPr>
          <p:nvPr/>
        </p:nvSpPr>
        <p:spPr bwMode="auto">
          <a:xfrm>
            <a:off x="4214810" y="2786064"/>
            <a:ext cx="471490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2. Total Matches Played by Each Team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Insight: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Indicates team longevity and participation in the IPL.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Top Teams by Matches Played: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Mumbai Indians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lead, followed closely by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RCB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Delhi Capitals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and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Kolkata Knight Riders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Lower Participation: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Teams like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Gujarat Lions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Rising </a:t>
            </a: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Pune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Supergiant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and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Kochi Tuskers Kerala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played fewer matches, reflecting their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shorter presence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 the league.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20"/>
            <a:ext cx="842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Visual Analysis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3"/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1200" b="1" u="sng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14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5" y="500048"/>
            <a:ext cx="321471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14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00694" y="500048"/>
            <a:ext cx="3500462" cy="232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86050" y="3000378"/>
            <a:ext cx="3429024" cy="2017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214282" y="3214692"/>
            <a:ext cx="22860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Insight: Highlights players who have had the most individual match-winning performances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These players have had a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major impact on match outcomes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and are often the key game-changers for their teams.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29388" y="3143254"/>
            <a:ext cx="22860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Insight: Toss wins have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limited influence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on overall match results.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Winning the toss offers a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minor advantage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but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match performance matters more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than toss results.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rot="5400000">
            <a:off x="1107654" y="3035700"/>
            <a:ext cx="356396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>
            <a:off x="7394595" y="3035303"/>
            <a:ext cx="35719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28992" y="500048"/>
            <a:ext cx="214314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Insight: Shows how many matches each team won per season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Mumbai Indians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Chennai Super Kings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have been consistently high performers across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seasons.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chart highlights team consistency, dominance, and volatility over time, offering a clear view of which teams sustain success and which face ups and downs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rot="5400000" flipH="1" flipV="1">
            <a:off x="4393405" y="2821783"/>
            <a:ext cx="214314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20"/>
            <a:ext cx="842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Correlation 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Analysis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3"/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lvl="3"/>
            <a:endParaRPr lang="en-US" sz="1200" b="1" u="sng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6306" name="AutoShape 2" descr="data:image/png;base64,iVBORw0KGgoAAAANSUhEUgAAAxoAAAIsCAYAAAB1FN9WAAAAOnRFWHRTb2Z0d2FyZQBNYXRwbG90bGliIHZlcnNpb24zLjEwLjAsIGh0dHBzOi8vbWF0cGxvdGxpYi5vcmcvlHJYcgAAAAlwSFlzAAAPYQAAD2EBqD+naQAAPQJJREFUeJzt3XlclWX+//E3IOCSoJiRCyS44IaDG4jrSE4KhliZkqaW2milpVYOmWOZjqU1UzNm1mQqZrnbKLjkuIxaNq7Z5mgkjguuIwkosgjn90c/ztfDATnghQf19Xw8fNS57+u+7899Xdxw3udejovFYrEIAAAAAAxydXYBAAAAAG4/BA0AAAAAxhE0AAAAABhH0AAAAABgHEEDAAAAgHEEDQAAAADGETQAAAAAGEfQAAAAAGAcQQMAAACAcQQNABXOqlWrFBQUpJMnT1qnDR48WIMHD3ZiVbaCgoI0a9Ysp2w7Li5OERERTtn2nay8+n3dunUKDQ3V5cuXja+7vGzfvl2tW7dWamqqs0sBUIERNACUKCkpSS+++KK6dOmili1bqnPnznrhhReUlJR0Q+v94IMPtGnTJkNV3ppyc3MVFhamxx57rNg2FotF3bp100MPPXRD26qo/b1r1y4FBQUpKChIq1evLrJNbGysgoKC9OCDD97k6spXXl6eZs2apccff1zVqlWzTo+IiLD2SVBQkEJCQtSvXz/94x//cF6x1+jatav8/f314YcfOrsUABVYJWcXAKBi27hxo8aPH68aNWrokUceUf369ZWSkqIVK1boiy++0DvvvKPf/e53ZVr3hx9+qJ49e6pHjx4ltv3444/LtI3y8t1338nNze2G1+Pu7q5evXpp6dKlSklJUb169eza7NmzR2fOnNETTzwhSZo6daosFkupt1Wa/nYGT09PJSYmKiYmxmb6yZMn9c0338jT09NJlf2qrP1+PVu3btXRo0c1YMAAu3nNmjXTk08+KUk6f/68li9frj/84Q/KyclR//79jdZRFgMGDNDMmTM1ZswY3XXXXc4uB0AFxBkNAMU6fvy4JkyYID8/P61Zs0bjxo3To48+qrFjx2rNmjXy8/PThAkTdOLEiXKvxcPDQx4eHkbWlZ+fr+zs7Btah6enpypVMvNZTXR0tCwWi9auXVvk/MTERLm6uioqKkrSr+HEVF/cqMzMTGPr6tatm3bu3Gl3OU5iYqLuvvtutWzZ0ti2LBaLsrKySrVMefT7ypUr1aZNG/n6+trN8/X1VUxMjGJiYjRixAgtXrxYVatW1YIFC4zWUFY9e/ZUTk6ONmzY4OxSAFRQBA0AxZo7d66uXLmiqVOnysfHx2aej4+PXn/9dWVmZuqjjz6yTi/uOvZZs2YpKCjI+jooKEiZmZn6/PPPrZeHxMXFFVtLUfdo5OTk6G9/+5t+97vfqWXLlurWrZtmzpypnJwcm3ZBQUF6/fXXtWbNGvXu3VvBwcHasWOHJGnt2rV6+OGH1bp1a7Vp00bR0dGKj48vsW8K36NRsH/Hjh1TXFyc2rVrp7Zt2+rll1/WlStXrruutm3bql69ekpISLCbl5ubqy+++EJhYWHWN6NF9XF+fr7i4+MVHR2t4OBgdejQQcOHD9f3339vrfd6/X3w4EGNGDFCbdq0UevWrTV06FAdOHDAZhsF987s3r1br732msLDw9WtWzf9+9//VlBQkP75z3/a1Z+QkKCgoCB988031+9QSffff788PDzs3rgmJiYqMjKyyDNIK1eu1JAhQxQeHq6WLVsqKipKn332mV27iIgIjRw5Ujt27NDDDz+sVq1aacmSJZKklJQUjRo1SiEhIQoPD9f06dO1Y8cOBQUFadeuXdZ1FO73kydPKigoSB9//LGWLl2qHj16qGXLlnrkkUf03Xfflbi/2dnZ2rFjhzp27FhiW+nXYy4wMFDHjx+3Tiu47OzaOq+tbdWqVTb1t27dWmfPntUzzzyj1q1bq0OHDpoxY4by8vJslnfkuKhVq5aCgoK0efNmh+oHcOfh0ikAxdq6davq1aundu3aFTm/ffv2qlevnrZt21bqdc+cOVOTJk1Sq1atrJeB+Pv7O7x8fn6+nn76ae3bt0/9+/dXw4YN9dNPPyk+Pl7//e9/9f7779u0//e//63169dr0KBBqlmzpurVq6evvvpK48ePV3h4uF588UVJUnJysvbv36+hQ4eWep8kaezYsapfv77Gjx+vgwcPavny5fLx8dFLL71U7DIuLi6Kjo7WBx98oKSkJDVu3Ng6b8eOHbp48aKio6Ovu91XXnlFq1atUteuXdWvXz/l5eVp7969+vbbbxUcHHzd/k5KStKgQYNUrVo1jRgxQpUqVdLSpUs1ePBgLVq0SL/5zW9stjVlyhT5+Pjo2WefVWZmpsLCwlSnTh0lJCTYXUaXkJAgf39/tW7dusS+q1y5siIiIrR27VoNHDhQknTo0CElJSVp2rRpOnz4sN0yixcvVuPGjRUREaFKlSpp69atmjJliiwWiwYNGmTT9ujRo3rhhRc0YMAA9e/fXwEBAcrMzNTQoUN1/vx5DRkyRHfffbcSExPt3rhfT2Jioi5fvqwBAwbIxcVFc+fO1ZgxY7Rp0ya5u7sXu9wPP/yg3NxcNW/e3KHtXL16VWfPnpW3t7fDtRWWl5en4cOHq1WrVpowYYK+/vprzZs3T35+ftY+L81x0aJFiwp53w+AioGgAaBIGRkZOnfunO6///7rtgsKCtKWLVt06dKlUl2nHRMTo9dee01+fn521+Q7IiEhQTt37tQnn3xiE4QaN26sV199Vfv371ebNm2s048ePaqEhAQ1atTIOu1Pf/qT7rrrLn388cdG7reQfr2ufvr06dbXFy9e1IoVK64bNCRZg0ZCQoLGjx9vnZ6YmChPT0/17Nmz2GX//e9/a9WqVRo8eLAmTZpknT5s2DDrPQXX6+93331Xubm5Wrx4sfz8/CRJffv2Va9evfTWW29p0aJFNu29vb21YMECmz7r06eP5s+fr4yMDFWvXl2SlJqaqq+++kqjRo267r4X7odRo0bp9OnTqlOnjvUSvZCQkCLbL1q0SJUrV7a+fvzxxzV8+HDNnz/fLmgcO3ZMc+fOVZcuXazT5s+frxMnTmj27NnWe1diY2PVt29fh2s+deqUNm7caA0AAQEBeuaZZ/Tll1+qe/fuxS6XnJwsSapfv36R869evWq9jOx///uf5s6dq/Pnz9vtV2lkZ2crMjJSzz77rCTpscce00MPPaQVK1ZYg8a//vUvh48LPz8//fLLL7pw4YJq1apV5roA3J64dApAkQoetXntk3CKUjD/Zj+ac8OGDWrYsKECAwOVmppq/dehQwdJsvtEun379jYhQ5K8vLx05coVffXVV8bqio2NtXndrl07Xbx4UZcuXbruco0aNVLz5s1t7tPIzMzUli1b9Nvf/va6IW7jxo1ycXHR6NGj7ea5uLhcd7t5eXn66quv1KNHD2vIkKR77rlHDz74oPbt22dXe//+/e3egMbExNhdr79u3TpdvXpVffr0uW4N1+rUqZO8vb21du1aWSwWrVu3Tr179y62/bUhIyMjQ6mpqQoNDdWJEyeUkZFh07Z+/fo2IUP69YyRr6+vTaD29PQs1c3WUVFRNmcZCoJvSfcuXbx4UZKKPUPx5ZdfKjw8XOHh4YqOjtbq1av18MMPa8KECQ7XVpTCTzhr27atzaOkS3NceHl5SZJ++eWXG6oJwO2JMxoAiuRogHA0kJh27NgxHTlyROHh4UXOv3Dhgs3roj41HjhwoNavX6+nnnpKvr6+6tSpkyIjI9W1a9cy11W3bl2b1wVvxNLS0ko84xMdHa0ZM2ZYz8Zs2rRJV65cKfGN+vHjx3XPPfeoRo0apa43NTVVV65cUUBAgN28hg0bKj8/X6dPn7a5nKuovmzYsKGCg4OVkJCgRx99VNKvZ51CQkJ03333OVxPwVO4EhMT1apVK50+ffq6l43t27dPs2bN0oEDB+zuhbn27EpxdaekpMjf398ukJXmMr46derYvC4IDunp6Q4tX9yTrH7zm99o7NixysvLU1JSkubMmaP09PTrXo5VEk9PT7v7rby9vZWWlmZ9XZrjoqD2kgItgDsTQQNAkapXr67atWsXeV38tQ4fPixfX1/rm+ji3nAUvtn0RuXn56tJkyZ6+eWXi5x/77332ry+9pPvArVq1dI//vEPffnll9q+fbu2b9+uVatWqW/fvpoxY0aZ6nJ1LfpEsSOPRe3du7feeustJSYmqk2bNkpMTJS3t/cNBZ/yUNxjZvv27as//elPOnPmjHJycnTgwAFNnjy51OuPjo7WkiVLNGvWLDVt2tTuTFSB48eP64knnlBgYKDi4uJUp04dubu7a9u2bVqwYIHy8/Nt2hf1M2BCcZcXlTTmBcEwLS3N7udVkmrWrGm9UbxLly4KDAzUyJEjtXDhQutjb4s73grve0m1Xqs0x0VBmKpZs2aJ6wVw5+HSKQDF6t69u06ePKm9e/cWOX/v3r1KSUnRb3/7W+s0Ly+vIj/JPXXqlNHa/P39lZaWpvDwcHXs2NHuX2BgoEPr8fDwUEREhF577TVt2rRJAwYM0D/+8Q8dO3bMaL2O8PX1VVhYmDZs2KD//e9/2rlzp3r27FniI1X9/f117tw566U4peHj46MqVaro6NGjdvOSk5Pl6upq94l9caKiouTm5qbExEStWbNG7u7uioyMLHVNbdu2Vd26dbV79+7rfkHfli1blJOTozlz5ig2NlbdunVTx44dSxUo6tWrp+PHj9uFgmuf7FReCn5Gr71s6Xp++9vfKjQ0VB988IH1scIFZ8wKXyaWkpJyQ7U5elycPHlSNWvWtDtLAgASQQPAdQwfPlyVK1fWq6++ancN9sWLF/Xqq6+qSpUqGjFihHW6v7+/MjIydOjQIeu0c+fOFfno06pVqzp8eUlhkZGROnv2rJYtW2Y3Lysry6Hvdyi8T66urtZH8BZ+RO7NEh0drQsXLmjy5MnKzc0t8WlTkvTAAw/IYrHovffes5t37Rvoovrbzc1NnTp10ubNm23e8P7vf/9TYmKi2rZt6/BN/j4+PurSpYvWrFmjhIQEde7cuUxvQF1cXPTKK69o9OjR131QQMGn89fuY0ZGhlauXOnwtjp37qyzZ8/aPKI1Ozu7yJ8r01q2bCl3d3f98MMPDi8zYsQIXbx40VpfvXr15Obmpj179ti0W7x4cZnrKs1x8eOPPxZ7oz4AcOkUgGI1aNBAb775pl566SVFR0erX79+Nt8M/ssvv+gvf/mLzfXsUVFRevvttzV69GgNHjxYWVlZWrx4sQICAvTjjz/arL9Fixb6+uuvNX/+fN1zzz2qX7++3aNUixMTE6P169fr1Vdf1a5du9SmTRvl5eUpOTlZGzZs0Ny5cxUcHHzddUyaNElpaWnq0KGDfH19derUKS1atEjNmjVTw4YNS99hBvTs2VNTpkzR5s2bVadOHbVv377EZTp06KCYmBh98sknOnbsmLp06aL8/Hzt27dPYWFhevzxxyUV399jx47Vzp07NXDgQA0cOFBubm5aunSpcnJySnxaVmF9+/bVc889J0l6/vnnS98B/1+PHj1K/AbzTp06yd3dXaNGjVJsbKwuX76s5cuXq1atWjp//rxD2xkwYIAWLVqkF154QUOGDFHt2rWVkJBgvTysPO898PT0VOfOnfX111873FfdunVTkyZNtGDBAg0aNEjVq1dXr169tGjRIrm4uMjPz0//+te/7O5RKg1Hj4sLFy7o8OHD1qdVAUBhBA0A1xUZGanAwED9/e9/14oVK3Tx4kXVqFFDYWFhGjlypJo0aWLTvmbNmnrvvff05ptv6q233rJ+p8SxY8fsgkZcXJwmT56sd999V1lZWXrooYccDhqurq6aPXu2FixYoNWrV+uf//ynqlSpovr162vw4MFF3txcWJ8+fbRs2TJ99tlnSk9PV+3atRUZGakxY8YUe69FebvrrrvUvXt3bdiwQb1793b4je4bb7yhoKAgrVixQjNnzlT16tXVsmVLm++vKK6/GzdurE8//VR//vOf9eGHH8pisahVq1Z66623HB6PAt27d5e3t7fy8/NLfDTyjQoMDNTf/vY3vfvuu5oxY4buvvtuPfbYY/Lx8dHEiRMdWke1atUUHx+vadOmaeHChapatar69u2r1q1ba8yYMcXej2LKI488ojFjxlgf5+uIYcOGKS4uTgkJCXr44Yc1adIkXb16VUuWLJGHh4d69eqlCRMmXPeys+tx9LjYuHGjPDw8ynR5HIA7g4vFkTsUAQBwwNWrV9WlSxd1797d5vtEbjULFizQG2+8oe3bt1u/kb085OXlKSoqSpGRkRo7dmy5bac89O3bV6GhoQ6HOgB3Hu7RAAAYs2nTJqWmppbqC++cLSsry+Z1dna2li5dqgYNGpRryJB+vc/k+eef12effXbTv4vmRmzfvl3Hjh3TyJEjnV0KgAqMMxoAgBv27bff6vDhw3r//fdVs2ZNff75584uyWEjRoxQ3bp11bRpU126dElr1qxRUlKS3n77bYduxgcAFI17NAAAN2zx4sVas2aNmjZtqjfffNPZ5ZRK586dtWLFCiUkJCgvL0+NGjXSO++8o6ioKGeXBgC3NM5oAAAAADCOezQAAAAAGEfQAAAAAGCcQ/dofPPNN7JYLHJ3dy/vegAAAABUYLm5uXJxcbH5rqaiOHRGw2KxyBm3clgsFuXk5Dhl2/g/jIPzMQbOxxg4H2PgfIyB8zEGFcOdPg6OZgOHzmgUnMkIDg6+sapKKTMzU//5z3/UqFEjVa1a9aZuG/+HcXA+xsD5GAPnYwycjzFwPsagYrjTx+H77793qB33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qObuAO9X58+eVnp7u7DIckpWVpdOnT6ty5cqqXLmys8u5IxU3Bl5eXqpdu7YTKwMAACgaQcMJzp8/r2eeHqXsnFxnl4JbnKeHu96f8wFhAwAAVDgEDSdIT09Xdk6uBrc5oXurZzm7HCPOZnhq4X5/DWlzXL7Vs51dzh3hTEZlfbLfT+np6QQNAABQ4RA0nOje6lnyq3F7BI0CvtWzb7t9AgAAQOlxMzg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bsmgkZ6e7uwSAAB3CP7mAEDZ3HJB48yZMxoyZIjOnDnj7FIAALc5/uYAQNndckHj8uXLys/P1+XLl51dCgDgNsffHAAou1suaAAAAACo+A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wAAAG4VeXl5OnjwoFJTU+Xj46PmzZtLkt00Nze3Mq2vUaNG2rhxo06fPq06deooMjJSbm5uZV5/Ua5cuaL4+HidOnVKdevW1dChQ+Xm5qb169fbbNfDw6NM6y+qj8raH0FBQTp8+LCxfXe0XqnsY2qyjvLepjNU5P10tLa8vDz9+OOP+vHHH5Wfn682bdqUeR9Ks82K2m/XQ9AAAMABO3fu1Lx583Tu3DnrNC8vL7m4uCgtLc067Z577tGwYcPUsWPHUq+vsHnz5qlKlSrKzMws9fqLMm3aNO3evdv6+sCBA1q3bp1du/nz5ysmJkZPPvlkqdZf1D7dSH+4uroqPz+/1Ou6kXpvZExN1lHe23SGiryfjtZWuN2qVavKvA9l3WZx7SoiLp0CAKAE3333nWbMmKEGDRpo5syZWrp0qQYPHqz09HSlpaVp8ODBWrp0qWbOnKkGDRpoxowZ2rlzZ7Hr27lzp836oqOjJUmVKv36+d+YMWPUq1cvWSwWZWZmqlu3bqVaf1EKQkalSpX0yCOP6MMPP1STJk2s8xs0aKD4+Hg9++yz8vLy0ueff6758+c7vP7C+3Qj/TF+/Hi5uLjIy8tLkjR+/Pgb2ndH672RMTVZR3lv0xkq8n46Wtu17aZOnaqXX35ZU6dOLdM+lGWbFa3fHEHQAACgBKtXr1b79u01ceJENW3aVB4eHvriiy/Uvn17tW/fXhs3bpSHh4eaNm2qiRMnqn379po/f77y8vLs1pWXl6d58+ZZ1xcYGKi1a9eqRo0aWrJkiUJDQ7Vs2TLt27dP7dq1k7e3t7788ku5ubk5tP6iXLlyxRoylixZoqFDh6pWrVr6+eef5e3tLTc3N/33v/9V5cqV1bNnT82bN081atTQmjVrlJOTU+L6C+9T06ZNVaVKlTL1R+PGjbVo0SK1b99e8+bNU2hoqD799FM1bty4TPvuaL03MqYm63C0324lFXk/Ha0tJyfH7ufUw8OjTD+XZd1mReo3R92yl06dOHHC2SWU2a1cOyoefp5ujqysLJ0+fVqVK1dW5cqVnV3OHckZY1BwfKWmpqpfv35ydf3187mDBw/q3LlzevHFFyVJEyZM0MGDBxUcHCxXV1f169fPZtq1rl3W1dVV69evV35+vgYNGiQPDw/rspL00ksv6dixY5o9e7bWr1+vmJiYEtdflPj4eElSTEyM9d6Lgu0+/vjjOnPmjFauXKn4+HiNGjVKlSpV0qBBg2y2ez2F9+lape2P77//3vq6UqVKdsuWdt8drfdGxrSsbqTfbiUVeT8drW39+vXG9sEZ23SWWzZo/OUvf3F2CUCFwLEA3Bz33Xef9f9TU1Ot0ywWi800SfL397ebVtSyknT69GlJUmhoqM2yBW1q165t066k9Rfl1KlTkqQHHnjAOu3a7V6+fFkrV660tpOkdu3a2W23OIX3qbDS9Efh14WXLe2+O1rvjYypyTquVR7bdIaKvJ+O1lZwHJjYB2ds01lu2aAxfvx4+fn5ObuMMjlx4gRvDmHMrXws3EqysrJ09OhRBQQEcEbDSZwxBtf+vj527JiaNm0qSfLx8bFOK1AwTZKOHz9uN61wu4L11alTR5K0e/du9ezZ07psQZuCbRS0K2n9Ralbt64OHDigjRs3aujQoTbr2717t86cOWNtV2Dv3r122y1O4X0qrDT9Ufh14WVLu++O1nsjY2qyjmuVxzadoSLvp6O1FRwHJvbBGdt0lls2aPj5+alhw4bOLgNwOo6FmyMzM1NZWVkKCAhQ1apVnV3OHcmZY+Dj46MVK1Zo4sSJcnV1VfPmzXXPPfdo+fLlkiRfX1/rY1Hz8/O1YsUKm2nXKli2YH2RkZGaP3++Pv30U3Xv3t26bH5+vpYtW6akpCS5ubkpMjLSofUXZejQoVq3bp1Wr16txx57TB4eHtbtLlq0SJcuXbK2k6SrV6/q008/tdnu9RTep2sv8yhtf1z7Oi4uzmbZsuy7o/XeyJiarKNAeW3TGSryfjpaW2RkpBISEqztrlXafSjrNitSvzmKm8EBAChBTEyM9uzZo+nTp+vQoUPKzs5Wz549tWfPHu3Zs0cPPPCAsrOzdejQIU2fPl179uzRk08+WeRz7t3c3DRs2DDr+pKTkxUVFaWLFy8qNjZWu3fvVr9+/dS2bVvt3btXaWlp6tSpk65everQ+otSpUoVhYaG6urVq4qNjVV8fLzOnTunhg0bKi0tTXl5eWrQoIEyMzP1xRdfaNiwYbp48aL69Onj0PdpFN6nQ4cOKTMzs0z9kZSUpMcff1x79uzRsGHDtHv3bg0cOFBJSUll2ndH672RMTVZh6P9diupyPvpaG0eHh427X766SdlZ2frp59+KvU+lHWbFanfHOViKbgQ8Tq+//57SbrpN5pkZmbqP//5j5o1a2b99OrIkSMaN26c3nnnnVv2U9yCfXipW5L8amQ5uxwjTlysrLe2Nb6t9qmiK+jzW/lYuJUU9fsIN5czxuDavzlnz561e5a9t7e3JNl854Kvr6+efPJJI9+j4erqqsqVK9t8j4aj6y9K4e/RKI6bm5v69Olj9z0aJY1BUft0I/1R+Hs0bmTfHd3mjYypyTqK2+at/LvoRn4+ypujtZncB2ds0xRHs8Ete+kUAAA3U8eOHRUWFmbsW6SLWl95fzP4pEmTyvWbwYvro7L2R3l/M7jpMTVdR0X+pLosKvJ+OlpbQbv9+/frxx9/VIsWLcr8zeCl3WZF7LeSEDQAAHCQm5tbkZ/glfWMf1HrK+pRsiavKKhSpYpGjRplN72kR9g6qrg+Kuuy5X01hekxNV3H7aYi76ejtbm5ualFixZydXVVs2bNbvgyPke3WVH77Xq4Rw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bdckGjWrVqcnV1VbVq1ZxdCgDgNsffHAAou0rOLqC07r33Xi1cuFBeXl7OLgUAcJvjbw4AlN0td0ZDEr/wAQA3DX9zAKBsbsmgAQAAAKBi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wgaAAAAAIwjaAAAAAAwjqABAAAAwDiCBgAAAADjCBoAAAAAjCNoAAAAADCOoAEAAADAOIIGAAAAAOMIGgAAAACMI2gAAAAAMI6gAQAAAMA4ggYAAAAA4yo5u4A72ZmMys4uwZizGZ42/0X5u51+fgAAwO2HoOEEXl5e8vRw1yf7/ZxdinEL9/s7u4Q7iqeHu7y8vJxdBgAAgB2ChhPUrl1b78/5QOnp6c4uxSFZWVk6evSoAgICVLkyn6I7Q3Fj4OXlpdq1azuxMgAAgKIRNJykdu3at8wbxMzMTGVlZSkgIEBVq1Z1djl3JMYAAADcargZHA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ETQAAAAAGEfQAAAAAGAcQQMAAACAcQQNAAAAAMYRNAAAAAAYR9AAAAAAYBxBAwAAAIBxBA0AAAAAxhE0AAAAABhH0AAAAABgHEEDAAAAgHEEDQAAAADGuVgsFktJjfbv3y+LxSIPD4+bUZOVxWJRbm6u3N3d5eLiclO3jf/DODgfY+B8jIHzMQbOxxg4H2NQMdzp45CTkyMXFxe1adPmuu0qObIyZ3Wgi4vLTQ83sMc4OB9j4HyMgfMxBs7HGDgfY1Ax3Onj4OLi4lA+cOiMBgAAAACUBvdoAAAAADCOoAEAAADAOIIGAAAAAOMIGgAAAACMI2gAAAAAMI6gAQAAAMA4ggYAAAAA4wgaAAAAAIwjaAAAAAAwjqABAAAAwDiCBgAAAADjCBoAAAAAjKuwQePIkSN68sknFRISok6dOmnmzJnKyclxdlm3pfXr1+vpp59W165dFRISopiYGK1YsUIWi8Wm3fLly9WzZ08FBwerT58+2rp1q5Mqvv1dvnxZXbt2VVBQkL7//nubeYxD+fr888/Vt29fBQcHKywsTCNGjFBWVpZ1/pYtW9SnTx8FBwerZ8+eWrlypROrvf1s3rxZjz76qFq3bq3OnTvr+eef14kTJ+zacRyYc+zYMU2ePFkxMTFq3ry5HnzwwSLbOdLnGRkZmjhxokJDQ9W6dWs999xzOnfuXHnvwi2vpDG4dOmSZs2apX79+qldu3bq2LGjRo0apcOHD9utizEoG0ePgwKbNm1SUFBQke0Yg/9TIYNGWlqahg4dqtzcXM2aNUvjxo3TsmXL9Oabbzq7tNvSggULVKVKFcXFxWnOnDnq2rWr/vjHP2r27NnWNmvXrtUf//hHRUZG6qOPPlJISIhGjx6tAwcOOK/w29j777+vvLw8u+mMQ/maM2eOpk6dqqioKH388cd6/fXXVb9+fetY7N27V6NHj1ZISIg++ugjRUZG6pVXXtGGDRucXPntYdeuXRo9erQaNWqk2bNna+LEiTp06JCGDRtmE/Y4DsxKSkrStm3bdN9996lhw4ZFtnG0z8eOHauvvvpKr732mt5++20dPXpUTz31lK5evXoT9uTWVdIYnDp1SkuXLlWnTp307rvvaurUqcrIyNCAAQN05MgRm7aMQdk4chwUyMrK0vTp03X33XcXOZ8xuIalAvrggw8sISEhll9++cU6bcmSJZZmzZpZzpw547zCblMXLlywmzZp0iRLmzZtLHl5eRaLxWJ54IEHLOPHj7dpM2DAAMuIESNuSo13kp9//tkSEhJiWbx4saVJkyaW7777zjqPcSg/R44csTRv3tzyr3/9q9g2w4YNswwYMMBm2vjx4y2RkZHlXd4d4Y9//KMlIiLCkp+fb5329ddfW5o0aWLZs2ePdRrHgVkFv+ctFovlD3/4g6V37952bRzp8/3791uaNGli2bFjh3XakSNHLEFBQZa1a9eWQ+W3j5LG4PLly5bMzEybaZcuXbKEhoZaXn/9des0xqDsHDkOCrz77ruWQYMGFdmOMbBVIc9obN++XeHh4apRo4Z1WmRkpPLz8/XVV185r7DblI+Pj920Zs2a6dKlS8rMzNSJEyf03//+V5GRkTZtoqKi9PXXX3NJm2HTpk1TbGysAgICbKYzDuVr1apVql+/vrp161bk/JycHO3atUu9evWymR4VFaUjR47o5MmTN6PM29rVq1dVrVo1ubi4WKdVr15dkqyXcnIcmOfqev23Ao72+fbt2+Xl5aVOnTpZ2wQGBqpZs2bavn27+cJvIyWNQdWqVVWlShWbadWqVZO/v7/NJTmMQdmVNAYFjh8/rvnz52vSpElFzmcMbFXIoJGcnKzAwECbaV5eXqpdu7aSk5OdVNWdZd++ffL19dVdd91l7fPCb3wbNmyo3NzcIq+fRtls2LBBP/30k5599lm7eYxD+fr222/VpEkTvf/++woPD1fLli0VGxurb7/9VtKvf1xyc3PtfjcVnGLnd9ONe/jhh3XkyBF9+umnysjI0IkTJ/SXv/xFzZs3V5s2bSRxHDiDo32enJysgIAAm6Ao/fomi+PDvPT0dCUlJdn8TmIMyt+f/vQnxcTEqGnTpkXOZwxsVcigkZ6eLi8vL7vp3t7eSktLc0JFd5a9e/dq3bp1GjZsmCRZ+7zwmBS8ZkzMuHLlit58802NGzdOd911l918xqF8nT9/Xl9++aVWr16tV199VbNnz5aLi4uGDRumCxcu0P83Qbt27fTee+/pz3/+s9q1a6cePXrowoUL+uijj+Tm5iaJ48AZHO3z9PR06xmoa/G3u3y89dZbcnFx0WOPPWadxhiUry1btuibb77R888/X2wbxsBWhQwacJ4zZ85o3LhxCgsL05AhQ5xdzh1lzpw5qlWrlh555BFnl3JHslgsyszM1F//+lf16tVL3bp105w5c2SxWLRo0SJnl3dH2L9/vyZMmKD+/fsrPj5ef/3rX5Wfn6/f//73NjeDA3e6lStXatmyZZo8ebLuvfdeZ5dzR8jOztb06dM1ZsyYIi85R9EqZNDw8vJSRkaG3fS0tDR5e3s7oaI7Q3p6up566inVqFFDs2bNsl6vWNDnhcckPT3dZj7KLiUlRfPmzdNzzz2njIwMpaenKzMzU5KUmZmpy5cvMw7lzMvLSzVq1LA5HV6jRg01b95cP//8M/1/E0ybNk0dOnRQXFycOnTooF69eunvf/+7Dh48qNWrV0vi95EzONrnXl5eunTpkt3y/O02a9u2bZo8ebKeeeYZPfTQQzbzGIPyEx8fL1dXV/Xu3Vvp6elKT09Xbm6u8vPzlZ6ebr1XiTGwVSGDRlHXsWVkZOj8+fN210fDjKysLI0cOVIZGRmaO3euzWm/gj4vPCbJyclyd3eXn5/fTa31dnTy5Enl5ubq97//vdq3b6/27dtr1KhRkqQhQ4boySefZBzKWaNGjYqdl52dLX9/f7m7uxfZ/5L43WTAkSNH7K57vvfee1WzZk0dP35cEr+PnMHRPg8MDNTRo0ftvoPp6NGjHB+GHDhwQM8//7z69u1b5OU7jEH5SU5O1rFjxxQeHm79O52YmKgjR46offv21u9UYgxsVcig0bVrV+3cudP6aYn0602yrq6uNnfxw4yrV69q7NixSk5O1ty5c+Xr62sz38/PTw0aNLD7roB169YpPDxcHh4eN7Pc21KzZs20cOFCm38vv/yyJGnKlCl69dVXGYdy1r17d128eFH/+c9/rNN++eUX/fjjj2rRooU8PDwUFhamL774wma5devWqWHDhqpfv/7NLvm2U7duXR08eNBmWkpKin755RfVq1dPEr+PnMHRPu/atavS0tL09ddfW9scPXpUBw8eVNeuXW9qzbejn3/+WSNHjlSHDh00ZcqUItswBuXnqaeesvs73blzZ9WrV08LFy5URESEJMagsErOLqAosbGx+uSTT/Tss89q5MiROnv2rGbOnKnY2Fi7N8G4cVOmTNHWrVsVFxenS5cu2XwBU/PmzeXh4aExY8boxRdflL+/v8LCwrRu3Tp99913XLtuiJeXl8LCwoqc16JFC7Vo0UKSGIdy1KNHDwUHB+u5557TuHHj5Onpqb///e/y8PDQwIEDJUlPP/20hgwZotdee02RkZHatWuXEhMT9c477zi5+ttDbGyspk+frmnTpikiIkIXL1603rt07aNVOQ7MunLlirZt2ybp12B36dIla6gIDQ2Vj4+PQ31e8G3uEydO1B/+8Ad5enrqnXfeUVBQkB544AGn7NutoqQxsFgsGj58uDw9PTV06FD98MMP1mXvuusu6xlZxqDsShqDhg0b2n2R3+eff66zZ8/a/P1mDGy5WAqf26kgjhw5oqlTp+qbb75RtWrVFBMTo3HjxvFpVTmIiIhQSkpKkfM2b95s/aR2+fLl+uijj3Tq1CkFBARo/Pjx6t69+80s9Y6ya9cuDRkyRCtWrFBwcLB1OuNQflJTU/XGG29o69atys3NVbt27fTyyy/bXFa1efNmvfvuuzp69Kjq1q2r3//+9+rXr58Tq759WCwWLVmyRIsXL9aJEydUrVo1hYSEaNy4cXZ/4DkOzDl58qTuv//+IuctXLjQ+ibKkT7PyMjQG2+8oX/+85+6evWqOnfurEmTJvEhYQlKGgNJxT6gJTQ0VJ988on1NWNQNo4eB9eKi4vTDz/8oMTERJvpjMH/qbBBAwAAAMCtq0LeowEAAADg1kbQAAAAAGAcQQMAAACAcQQNAAAAAMYRNAAAAAAYR9AAAAAAYBxBAwAAAIBxBA0AwC0nLi5OERERzi4DAHAdBA0AcJJVq1YpKCjI+q958+bq0qWL4uLidPbsWafUtGvXLms9q1evLrJNbGysgoKC9OCDD97k6gAAt5JKzi4AAO50zz33nOrXr6+cnBwdOHBAn3/+ufbt26fExER5eno6pSZPT08lJiYqJibGZvrJkyf1zTffOK2uAlOnTpXFYnFqDQCA6yNoAICTde3aVcHBwZKkRx99VDVr1tRHH32kzZs3Kyoqyik1devWTVu2bFFqaqp8fHys0xMTE3X33XfrvvvuU3p6upFtWSwWZWdnq3Llyg4v4+7ubmTbAIDyw6VTAFDBtGvXTpJ04sQJ67TBgwdr8ODBdm0L36tw8uRJBQUF6eOPP9bSpUvVo0cPtWzZUo888oi+++47h2u4//775eHhoQ0bNthMT0xMVGRkpNzc3OyWWblypYYMGaLw8HC1bNlSUVFR+uyzz+zaRUREaOTIkdqxY4cefvhhtWrVSkuWLJEkpaSkaNSoUQoJCVF4eLimT5+uHTt2KCgoSLt27Sr3/QYAmMMZDQCoYFJSUiRJXl5eZV5HYmKiLl++rAEDBsjFxUVz587VmDFjtGnTJofOBlSuXFkRERFau3atBg4cKEk6dOiQkpKSNG3aNB0+fNhumcWLF6tx48aKiIhQpUqVtHXrVk2ZMkUWi0WDBg2yaXv06FG98MILGjBggPr376+AgABlZmZq6NChOn/+vIYMGaK7775biYmJNgGjvPcbAGAOQQMAnOzSpUtKTU1VTk6Ovv32W7333nvy8PBQ9+7dy7zOU6dOaePGjfL29pYkBQQE6JlnntGXX37p8Hqjo6M1atQonT59WnXq1NGaNWvk5+enkJCQItsvWrTI5vKnxx9/XMOHD9f8+fPtgsaxY8c0d+5cdenSxTpt/vz5OnHihGbPnq0ePXpI+vXG8759+97U/QYAmMGlUwDgZE888YTCw8PVrVs3Pffcc6pSpYrmzJmje++9t8zrjIqKsr7Zloq+HKsknTp1kre3t9auXSuLxaJ169apd+/exba/NmRkZGQoNTVVoaGhOnHihDIyMmza1q9f3yZkSNKOHTvk6+ur+++/3zrN09NT/fv3d7hmE/sNADCDMxoA4GSTJ09WQECAMjIytHLlSu3Zs0ceHh43tM46derYvC54812aG7jd3d3Vq1cvJSYmqlWrVjp9+rSio6OLbb9v3z7NmjVLBw4c0JUrV2zmZWRkqHr16tbX9evXt1s+JSVF/v7+cnFxsZnu7+/vcM0m9hsAYAZBAwCcrFWrVtanTvXo0UMDBw7UCy+8oA0bNqhatWrXXTYvL6/I6UXdrC2p1I+EjY6O1pIlSzRr1iw1bdpUjRo1KrLd8ePH9cQTTygwMFBxcXGqU6eO3N3dtW3bNi1YsED5+fk27UvzhKnSMLXfAIAbx6VTAFCBuLm5afz48Tp37pw+/fRT63Rvb+8iP5U/depUudbTtm1b1a1bV7t3777uF/Rt2bJFOTk5mjNnjmJjY9WtWzd17NixVIGiXr16On78uF0oOH78eJnrBwA4D0EDACqYsLAwtWrVSvHx8crOzpYk+fn5KTk5WampqdZ2hw4d0v79+8u1FhcXF73yyisaPXq03Zf3XavgTMK1IaHgUjBHde7cWWfPntXmzZut07Kzs7Vs2bIyVA4AcDYunQKACmj48OF6/vnntWrVKj322GPq16+fFixYoOHDh6tfv366cOGClixZokaNGuny5cvlWkuPHj2sT4EqTqdOneTu7q5Ro0YpNjZWly9f1vLly1WrVi2dP3/eoe0MGDBAixYt0gsvvKAhQ4aodu3aSkhIsH4LeeF7NwAAFRtnNACgAnrggQfk7++vefPmKS8vTw0bNtSMGTOUkZGhN954Q1u2bNHMmTPVokULZ5cqSQoMDNTf/vY3ubi4aMaMGVqyZIn69++vIUOGOLyOatWqKT4+Xh06dNDChQs1Z84ctWvXTs8884wkWQMHAODW4GLhDjkAQAW2YMECvfHGG9q+fbt8fX2dXQ4AwEGc0QAAVBhZWVk2r7Ozs7V06VI1aNCAkAEAtxju0QAAVBijR49W3bp11bRpU126dElr1qxRcnKy3n77bWeXBgAoJS6dAgBUGAsWLNCKFSuUkpKivLw8NWrUSCNGjFBUVJSzSwMAlBJBAwAAAIBx3KMBAAAAwDiCBgAAAADjCBoAAAAAjCNoAAAAADCOoAEAAADAOIIGAAAAAOMIGgAAAACMI2gAAAAAMI6gAQAAAMC4/wemsWTIvovAfw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428610"/>
            <a:ext cx="3429024" cy="4400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24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4744" y="142857"/>
            <a:ext cx="5000660" cy="2972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3714744" y="3214692"/>
            <a:ext cx="51435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These charts reveal clear home ground advantages, while also highlighting venues where no team consistently dominates. </a:t>
            </a: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Darker areas on the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show where teams have consistently performed well over the years.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0034" y="357172"/>
            <a:ext cx="157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For deliveries.csv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34" y="642924"/>
            <a:ext cx="600079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Cleaning :</a:t>
            </a:r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 step of data cleaning is to check for null  and duplicate values and then handle them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Null values were found and treated by replacing the null values with suitable ones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 presence of duplicate values</a:t>
            </a:r>
          </a:p>
          <a:p>
            <a:pPr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Next step is to find the outliers</a:t>
            </a:r>
          </a:p>
          <a:p>
            <a:pPr>
              <a:buFontTx/>
              <a:buChar char="-"/>
            </a:pPr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Since the outliers are effective for predictions in real life data they were not removed instead treated using certain methods by making the outliers into boundary values</a:t>
            </a:r>
            <a:endParaRPr lang="en-US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40642" name="Picture 2"/>
          <p:cNvPicPr>
            <a:picLocks noChangeAspect="1" noChangeArrowheads="1"/>
          </p:cNvPicPr>
          <p:nvPr/>
        </p:nvPicPr>
        <p:blipFill>
          <a:blip r:embed="rId2"/>
          <a:srcRect t="12483" b="5126"/>
          <a:stretch>
            <a:fillRect/>
          </a:stretch>
        </p:blipFill>
        <p:spPr bwMode="auto">
          <a:xfrm>
            <a:off x="6643702" y="357172"/>
            <a:ext cx="216217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786064"/>
            <a:ext cx="6000792" cy="2075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000246"/>
            <a:ext cx="3857652" cy="1859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16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928676"/>
            <a:ext cx="3454795" cy="2936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571472" y="714362"/>
            <a:ext cx="414340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Descriptive Statistics</a:t>
            </a:r>
            <a:r>
              <a:rPr lang="en-US" sz="1200" dirty="0" smtClean="0"/>
              <a:t>: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</a:rPr>
              <a:t>-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 mean, median, mode etc., and summarize categorical features with value counts</a:t>
            </a:r>
            <a:r>
              <a:rPr lang="en-US" sz="1200" dirty="0" smtClean="0"/>
              <a:t>.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These values are used while analyzing personal performance of each player.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71420"/>
            <a:ext cx="4857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Visualizations: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428610"/>
            <a:ext cx="4000528" cy="244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26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428610"/>
            <a:ext cx="3640143" cy="2344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26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928940"/>
            <a:ext cx="4000528" cy="2035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26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0" y="3071816"/>
            <a:ext cx="4136451" cy="1704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58" y="71420"/>
            <a:ext cx="48577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Correlations: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2437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357173"/>
            <a:ext cx="3923201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37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428610"/>
            <a:ext cx="3943343" cy="253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3716" name="Rectangle 4"/>
          <p:cNvSpPr>
            <a:spLocks noChangeArrowheads="1"/>
          </p:cNvSpPr>
          <p:nvPr/>
        </p:nvSpPr>
        <p:spPr bwMode="auto">
          <a:xfrm>
            <a:off x="500034" y="3500444"/>
            <a:ext cx="6215106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Perfect </a:t>
            </a: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Multicollinearity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Issue (0.98 correlation)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batsman_runs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and </a:t>
            </a: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total_runs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are almost perfectly correlated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This creates a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serious </a:t>
            </a:r>
            <a:r>
              <a:rPr kumimoji="0" 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multicollinearity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problem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in your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One of these variables should be removed to avoid redundancy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86314" y="3429006"/>
            <a:ext cx="4000528" cy="1046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Model Performance Impact</a:t>
            </a:r>
          </a:p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This explains your low AUC (0.57)!</a:t>
            </a:r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Multicollinear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features confuse the model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Coefficients become unstable and unreliable</a:t>
            </a: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Model struggles to learn meaningful patterns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64"/>
          <p:cNvSpPr txBox="1">
            <a:spLocks noGrp="1"/>
          </p:cNvSpPr>
          <p:nvPr>
            <p:ph type="title"/>
          </p:nvPr>
        </p:nvSpPr>
        <p:spPr>
          <a:xfrm flipH="1">
            <a:off x="714348" y="35717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MODELLING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28662" y="1000114"/>
            <a:ext cx="72866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Objective - Win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Probability Model Based on Past Match and Ball-by-Ball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Records and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Win Probability Estimation from In-Game Metrics</a:t>
            </a:r>
            <a:endParaRPr lang="en-US" sz="1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2910" y="1500180"/>
            <a:ext cx="7929618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goal is to build a predictive model that estimates the probability of a team winning a match based on key match factors such as toss outcome, venue, teams playing, and batting order.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predict the probability of the batting team winning in the second innings based on match conditions like runs scored, wickets lost, balls remaining, and required run rate.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Feature Engineering:</a:t>
            </a:r>
          </a:p>
          <a:p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- We created new features like: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- 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bat_first_team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 which team batted first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- 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bat_first_won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 did the team batting first win?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-  Encoded categorical variables using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LabelEncoder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for modeling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calculated metrics for each delivery and selected the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10th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over mark (60 balls)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take a mid-match snapshot. From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this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we created a model-ready dataset with 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numerical and encoded categorical variables: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Batting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&amp; bowling teams (One-Hot Encoded)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Current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score, wickets, RRR </a:t>
            </a:r>
            <a:r>
              <a:rPr lang="en-US" sz="1200" dirty="0" err="1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CRR</a:t>
            </a:r>
          </a:p>
          <a:p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200" b="1" u="sng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0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2500312"/>
            <a:ext cx="4228580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642910" y="142858"/>
            <a:ext cx="79296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Model Selection &amp; </a:t>
            </a:r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Training:</a:t>
            </a:r>
          </a:p>
          <a:p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selected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Logistic Regression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baseline classification and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Forest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for better interpretability and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non-linearity. Data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was split 70/30 into training and test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sets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- 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visualized performance using: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Confusion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Matrix, ROC Curve, Feature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Importance Graph</a:t>
            </a:r>
            <a:b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These showed that toss winner, batting order, and team strength were highly influential</a:t>
            </a:r>
            <a:r>
              <a:rPr lang="en-US" sz="1200" dirty="0" smtClean="0"/>
              <a:t>.</a:t>
            </a:r>
          </a:p>
          <a:p>
            <a:endParaRPr lang="en-US" sz="1200" dirty="0" smtClean="0"/>
          </a:p>
          <a:p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3"/>
          <a:srcRect t="2687" r="7946" b="46268"/>
          <a:stretch>
            <a:fillRect/>
          </a:stretch>
        </p:blipFill>
        <p:spPr bwMode="auto">
          <a:xfrm>
            <a:off x="4500562" y="2428874"/>
            <a:ext cx="4357718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85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00562" y="1571618"/>
            <a:ext cx="4362450" cy="88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/>
          <a:srcRect t="53732" r="1586"/>
          <a:stretch>
            <a:fillRect/>
          </a:stretch>
        </p:blipFill>
        <p:spPr bwMode="auto">
          <a:xfrm>
            <a:off x="4500562" y="3786196"/>
            <a:ext cx="4357718" cy="12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42910" y="2143122"/>
            <a:ext cx="3633814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Model Interpretation:</a:t>
            </a:r>
          </a:p>
          <a:p>
            <a:endParaRPr lang="en-US" sz="12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Win Probability Estimation from In-Game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Metrics</a:t>
            </a:r>
          </a:p>
          <a:p>
            <a:endParaRPr lang="en-US" sz="1200" b="1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For this first the target run from the datasets are merged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Then cumulative metrics are sorted and added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After encoding the model is trained and validated</a:t>
            </a:r>
          </a:p>
          <a:p>
            <a:pPr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Then the prediction is done for the second innings</a:t>
            </a:r>
          </a:p>
          <a:p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5"/>
          <p:cNvSpPr/>
          <p:nvPr/>
        </p:nvSpPr>
        <p:spPr>
          <a:xfrm rot="-5399809">
            <a:off x="-393997" y="613547"/>
            <a:ext cx="5512835" cy="4194428"/>
          </a:xfrm>
          <a:custGeom>
            <a:avLst/>
            <a:gdLst/>
            <a:ahLst/>
            <a:cxnLst/>
            <a:rect l="l" t="t" r="r" b="b"/>
            <a:pathLst>
              <a:path w="122671" h="122671" extrusionOk="0">
                <a:moveTo>
                  <a:pt x="61288" y="15890"/>
                </a:moveTo>
                <a:cubicBezTo>
                  <a:pt x="74134" y="15890"/>
                  <a:pt x="87890" y="17837"/>
                  <a:pt x="98492" y="25582"/>
                </a:cubicBezTo>
                <a:cubicBezTo>
                  <a:pt x="106392" y="31355"/>
                  <a:pt x="107052" y="41356"/>
                  <a:pt x="105729" y="50292"/>
                </a:cubicBezTo>
                <a:cubicBezTo>
                  <a:pt x="104207" y="60560"/>
                  <a:pt x="103318" y="70931"/>
                  <a:pt x="101429" y="81148"/>
                </a:cubicBezTo>
                <a:cubicBezTo>
                  <a:pt x="99916" y="89314"/>
                  <a:pt x="96431" y="97128"/>
                  <a:pt x="88124" y="99955"/>
                </a:cubicBezTo>
                <a:cubicBezTo>
                  <a:pt x="84437" y="101209"/>
                  <a:pt x="80540" y="101601"/>
                  <a:pt x="76602" y="101601"/>
                </a:cubicBezTo>
                <a:cubicBezTo>
                  <a:pt x="71796" y="101601"/>
                  <a:pt x="66926" y="101018"/>
                  <a:pt x="62297" y="100710"/>
                </a:cubicBezTo>
                <a:cubicBezTo>
                  <a:pt x="51217" y="99976"/>
                  <a:pt x="40203" y="98506"/>
                  <a:pt x="29211" y="96964"/>
                </a:cubicBezTo>
                <a:cubicBezTo>
                  <a:pt x="16647" y="95202"/>
                  <a:pt x="10610" y="89119"/>
                  <a:pt x="11276" y="76081"/>
                </a:cubicBezTo>
                <a:cubicBezTo>
                  <a:pt x="11770" y="66433"/>
                  <a:pt x="13452" y="56900"/>
                  <a:pt x="15516" y="47476"/>
                </a:cubicBezTo>
                <a:cubicBezTo>
                  <a:pt x="17086" y="40308"/>
                  <a:pt x="17867" y="30029"/>
                  <a:pt x="23464" y="24632"/>
                </a:cubicBezTo>
                <a:cubicBezTo>
                  <a:pt x="31878" y="16520"/>
                  <a:pt x="46079" y="16024"/>
                  <a:pt x="57526" y="15914"/>
                </a:cubicBezTo>
                <a:cubicBezTo>
                  <a:pt x="58439" y="15906"/>
                  <a:pt x="59335" y="15900"/>
                  <a:pt x="60210" y="15894"/>
                </a:cubicBezTo>
                <a:cubicBezTo>
                  <a:pt x="60569" y="15891"/>
                  <a:pt x="60928" y="15890"/>
                  <a:pt x="61288" y="15890"/>
                </a:cubicBezTo>
                <a:close/>
                <a:moveTo>
                  <a:pt x="0" y="0"/>
                </a:moveTo>
                <a:lnTo>
                  <a:pt x="0" y="122670"/>
                </a:lnTo>
                <a:lnTo>
                  <a:pt x="122671" y="122670"/>
                </a:lnTo>
                <a:lnTo>
                  <a:pt x="12267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65"/>
          <p:cNvSpPr/>
          <p:nvPr/>
        </p:nvSpPr>
        <p:spPr>
          <a:xfrm flipH="1">
            <a:off x="785786" y="-4000546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65"/>
          <p:cNvSpPr/>
          <p:nvPr/>
        </p:nvSpPr>
        <p:spPr>
          <a:xfrm rot="-6621704" flipH="1">
            <a:off x="-3919845" y="1710891"/>
            <a:ext cx="7826147" cy="2877875"/>
          </a:xfrm>
          <a:custGeom>
            <a:avLst/>
            <a:gdLst/>
            <a:ahLst/>
            <a:cxnLst/>
            <a:rect l="l" t="t" r="r" b="b"/>
            <a:pathLst>
              <a:path w="76674" h="28195" fill="none" extrusionOk="0">
                <a:moveTo>
                  <a:pt x="76673" y="0"/>
                </a:moveTo>
                <a:cubicBezTo>
                  <a:pt x="76673" y="0"/>
                  <a:pt x="67374" y="14124"/>
                  <a:pt x="60786" y="16430"/>
                </a:cubicBezTo>
                <a:cubicBezTo>
                  <a:pt x="52981" y="19160"/>
                  <a:pt x="39856" y="7047"/>
                  <a:pt x="24779" y="17621"/>
                </a:cubicBezTo>
                <a:cubicBezTo>
                  <a:pt x="9706" y="28195"/>
                  <a:pt x="1302" y="23045"/>
                  <a:pt x="1" y="9868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553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071684"/>
            <a:ext cx="4071966" cy="2936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4929190" y="3286130"/>
            <a:ext cx="378621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 model performs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well for both innings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with slightly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better accuracy when predicting first-innings wins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It is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reasonably reliable for second innings win predictions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making it useful for real-time insights or match forecasting.</a:t>
            </a:r>
          </a:p>
        </p:txBody>
      </p:sp>
      <p:pic>
        <p:nvPicPr>
          <p:cNvPr id="15155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142858"/>
            <a:ext cx="374332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4857752" y="214296"/>
            <a:ext cx="3929058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Balanced Recall: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Both classes have the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same recall (0.79)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→ the model is equally good at identifying both outcomes (win chasing or batting first).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Better Precision for Bat-First Wins (Class 1):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Precision = 0.82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→ When the model predicts a bat-first win, it's right 82% of the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Shows slight bias towards being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more confident in bat-first win predictions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F1-Score Consistency: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F1-scores are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close and strong for both classes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indicating </a:t>
            </a: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reliable and balanced performance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7"/>
          <p:cNvSpPr txBox="1">
            <a:spLocks noGrp="1"/>
          </p:cNvSpPr>
          <p:nvPr>
            <p:ph type="subTitle" idx="1"/>
          </p:nvPr>
        </p:nvSpPr>
        <p:spPr>
          <a:xfrm>
            <a:off x="357158" y="714362"/>
            <a:ext cx="3071834" cy="41434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Win Probability Model Based on Past Match and Ball-by-Ball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Records</a:t>
            </a:r>
          </a:p>
          <a:p>
            <a:pPr marL="0" lvl="0" indent="0"/>
            <a:endParaRPr lang="en-US" sz="1200" b="1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First the feature engineering is done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Then the dataset is split into training and testing sets.</a:t>
            </a: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Now they are fitted in a Logistic Regression Model </a:t>
            </a: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Forest Classifier is also used here</a:t>
            </a: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Now the prediction is done by fitting the data into these models</a:t>
            </a: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Lastly the predictions are analyzed based on the metrics values and from the visualizations of the results </a:t>
            </a:r>
          </a:p>
          <a:p>
            <a:pPr marL="0" lvl="0" indent="0">
              <a:buFontTx/>
              <a:buChar char="-"/>
            </a:pP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From these results we gather valuable insights</a:t>
            </a:r>
          </a:p>
          <a:p>
            <a:pPr marL="0" lvl="0" indent="0"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>
              <a:buFontTx/>
              <a:buChar char="-"/>
            </a:pP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745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571486"/>
            <a:ext cx="5334523" cy="2881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0430" y="3500444"/>
            <a:ext cx="5285723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 txBox="1">
            <a:spLocks noGrp="1"/>
          </p:cNvSpPr>
          <p:nvPr>
            <p:ph type="subTitle" idx="1"/>
          </p:nvPr>
        </p:nvSpPr>
        <p:spPr>
          <a:xfrm>
            <a:off x="214282" y="2857502"/>
            <a:ext cx="4214842" cy="1928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The model is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not just predicting based on current runs or </a:t>
            </a:r>
            <a:r>
              <a:rPr lang="en-US" sz="1200" b="1" dirty="0" err="1" smtClean="0">
                <a:latin typeface="Times New Roman" pitchFamily="18" charset="0"/>
                <a:cs typeface="Times New Roman" pitchFamily="18" charset="0"/>
              </a:rPr>
              <a:t>overs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 but is learning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historical patterns tied to teams and decisions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Teams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like MI or KKR might have higher chances due to better historical performance in specific scenarios.</a:t>
            </a:r>
          </a:p>
          <a:p>
            <a:pPr algn="l"/>
            <a:endParaRPr lang="en-US" sz="1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Toss </a:t>
            </a:r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decision strategy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(e.g., always fielding first when winning the toss) might be supported by such analysis.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950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3" y="214296"/>
            <a:ext cx="4286279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950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57752" y="142858"/>
            <a:ext cx="3735313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929190" y="3000378"/>
            <a:ext cx="37147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smtClean="0">
                <a:latin typeface="Times New Roman" pitchFamily="18" charset="0"/>
                <a:cs typeface="Times New Roman" pitchFamily="18" charset="0"/>
              </a:rPr>
              <a:t>Slightly Above Random Performance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AUC of 0.57 is only marginally better than random guessing (0.50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This suggests the current features have limited predictive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power</a:t>
            </a:r>
          </a:p>
          <a:p>
            <a:endParaRPr lang="en-US" sz="1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The model is struggling to distinguish between winning and losing teams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28728" y="1214428"/>
            <a:ext cx="68580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performed a complete IPL data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exploration . Built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 working win prediction model with good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performance . Machine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learning and cricket analytics can go hand-in-hand for real-time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strategy</a:t>
            </a:r>
          </a:p>
          <a:p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But still there is some difficulty in analyzing the IPL dataset</a:t>
            </a:r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IPL Prediction is Challenging</a:t>
            </a:r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endParaRPr lang="en-US" sz="12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High Randomness in Cricket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Individual brilliance can change match outcomes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Weather, pitch conditions, toss impact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Injuries and team 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changes</a:t>
            </a:r>
          </a:p>
          <a:p>
            <a:pPr lvl="1"/>
            <a:endParaRPr lang="en-US" sz="1200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Competitive Balance</a:t>
            </a:r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IPL is designed for competitive balance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Salary caps and player auctions level the field</a:t>
            </a:r>
          </a:p>
          <a:p>
            <a:pPr lvl="1"/>
            <a:r>
              <a:rPr lang="en-US" sz="1200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Any team can beat any other on a given day</a:t>
            </a:r>
            <a:endParaRPr lang="en-US" sz="12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Google Shape;634;p64"/>
          <p:cNvSpPr txBox="1">
            <a:spLocks/>
          </p:cNvSpPr>
          <p:nvPr/>
        </p:nvSpPr>
        <p:spPr>
          <a:xfrm flipH="1">
            <a:off x="714348" y="3571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Kulim Park"/>
              <a:buNone/>
              <a:tabLst/>
              <a:defRPr/>
            </a:pPr>
            <a:r>
              <a:rPr kumimoji="0" lang="en-US" sz="3000" b="0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Kulim Park SemiBold"/>
                <a:ea typeface="Kulim Park SemiBold"/>
                <a:cs typeface="Kulim Park SemiBold"/>
                <a:sym typeface="Kulim Park SemiBold"/>
              </a:rPr>
              <a:t>CONCLUSION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Kulim Park SemiBold"/>
              <a:ea typeface="Kulim Park SemiBold"/>
              <a:cs typeface="Kulim Park SemiBold"/>
              <a:sym typeface="Kulim Park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68"/>
          <p:cNvSpPr txBox="1">
            <a:spLocks noGrp="1"/>
          </p:cNvSpPr>
          <p:nvPr>
            <p:ph type="title"/>
          </p:nvPr>
        </p:nvSpPr>
        <p:spPr>
          <a:xfrm>
            <a:off x="716550" y="1929275"/>
            <a:ext cx="74109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solidFill>
                  <a:schemeClr val="lt1"/>
                </a:solidFill>
              </a:rPr>
              <a:t>THANK YOU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Korean Aesthetic Pitch Deck by Slidesgo">
  <a:themeElements>
    <a:clrScheme name="Simple Light">
      <a:dk1>
        <a:srgbClr val="1E1E1E"/>
      </a:dk1>
      <a:lt1>
        <a:srgbClr val="664B34"/>
      </a:lt1>
      <a:dk2>
        <a:srgbClr val="887C62"/>
      </a:dk2>
      <a:lt2>
        <a:srgbClr val="D4CBBB"/>
      </a:lt2>
      <a:accent1>
        <a:srgbClr val="E7E2D6"/>
      </a:accent1>
      <a:accent2>
        <a:srgbClr val="F3F3F3"/>
      </a:accent2>
      <a:accent3>
        <a:srgbClr val="E2B0A6"/>
      </a:accent3>
      <a:accent4>
        <a:srgbClr val="FFFFFF"/>
      </a:accent4>
      <a:accent5>
        <a:srgbClr val="FFFFFF"/>
      </a:accent5>
      <a:accent6>
        <a:srgbClr val="FFFFFF"/>
      </a:accent6>
      <a:hlink>
        <a:srgbClr val="1E1E1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1559</Words>
  <PresentationFormat>On-screen Show (16:9)</PresentationFormat>
  <Paragraphs>200</Paragraphs>
  <Slides>23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Georgia</vt:lpstr>
      <vt:lpstr>Kulim Park</vt:lpstr>
      <vt:lpstr>Manrope</vt:lpstr>
      <vt:lpstr>Times New Roman</vt:lpstr>
      <vt:lpstr>Arial Unicode MS</vt:lpstr>
      <vt:lpstr>Kulim Park SemiBold</vt:lpstr>
      <vt:lpstr>Nunito Light</vt:lpstr>
      <vt:lpstr>Minimalist Korean Aesthetic Pitch Deck by Slidesgo</vt:lpstr>
      <vt:lpstr>Data Analysis Challenge  IPL DATASET</vt:lpstr>
      <vt:lpstr>ABOUT THE DATASET</vt:lpstr>
      <vt:lpstr>UNDERSTANDING THE DATASET</vt:lpstr>
      <vt:lpstr>Slide 4</vt:lpstr>
      <vt:lpstr>Slide 5</vt:lpstr>
      <vt:lpstr>EXPLORATORY DATA ANALYSIS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DATA MODELLING</vt:lpstr>
      <vt:lpstr>Slide 18</vt:lpstr>
      <vt:lpstr>Slide 19</vt:lpstr>
      <vt:lpstr>Slide 20</vt:lpstr>
      <vt:lpstr>Slide 21</vt:lpstr>
      <vt:lpstr>Slide 22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Challenge</dc:title>
  <dc:creator>SRI</dc:creator>
  <cp:lastModifiedBy>USER</cp:lastModifiedBy>
  <cp:revision>41</cp:revision>
  <dcterms:modified xsi:type="dcterms:W3CDTF">2025-07-24T17:42:23Z</dcterms:modified>
</cp:coreProperties>
</file>
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</p:sldMasterIdLst>
  <p:sldIdLst>
    <p:sldId id="256" r:id="rId3"/>
    <p:sldId id="259" r:id="rId4"/>
    <p:sldId id="268" r:id="rId5"/>
    <p:sldId id="260" r:id="rId6"/>
    <p:sldId id="261" r:id="rId7"/>
    <p:sldId id="263" r:id="rId8"/>
    <p:sldId id="264" r:id="rId9"/>
    <p:sldId id="265" r:id="rId10"/>
    <p:sldId id="269" r:id="rId11"/>
    <p:sldId id="270" r:id="rId12"/>
    <p:sldId id="272" r:id="rId13"/>
    <p:sldId id="273" r:id="rId14"/>
    <p:sldId id="274" r:id="rId15"/>
    <p:sldId id="271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228600" y="3717000"/>
            <a:ext cx="7830360" cy="11977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0;p13"/>
          <p:cNvPicPr/>
          <p:nvPr/>
        </p:nvPicPr>
        <p:blipFill>
          <a:blip r:embed="rId2">
            <a:alphaModFix amt="10000"/>
          </a:blip>
          <a:srcRect l="1511" r="152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442760" y="866520"/>
            <a:ext cx="40568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4442760" y="37616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600" b="1" u="none" strike="noStrik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title"/>
          </p:nvPr>
        </p:nvSpPr>
        <p:spPr>
          <a:xfrm>
            <a:off x="4442760" y="24688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600" b="1" u="none" strike="noStrik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title"/>
          </p:nvPr>
        </p:nvSpPr>
        <p:spPr>
          <a:xfrm>
            <a:off x="4443480" y="182268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600" b="1" u="none" strike="noStrik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title"/>
          </p:nvPr>
        </p:nvSpPr>
        <p:spPr>
          <a:xfrm>
            <a:off x="4442760" y="31150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600" b="1" u="none" strike="noStrik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body"/>
          </p:nvPr>
        </p:nvSpPr>
        <p:spPr>
          <a:xfrm>
            <a:off x="228600" y="228600"/>
            <a:ext cx="3435120" cy="468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62;p14"/>
          <p:cNvPicPr/>
          <p:nvPr/>
        </p:nvPicPr>
        <p:blipFill>
          <a:blip r:embed="rId2">
            <a:alphaModFix amt="15000"/>
          </a:blip>
          <a:srcRect l="34584" b="35605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04000" cy="69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66;p15"/>
          <p:cNvPicPr/>
          <p:nvPr/>
        </p:nvPicPr>
        <p:blipFill>
          <a:blip r:embed="rId2">
            <a:alphaModFix amt="7000"/>
          </a:blip>
          <a:srcRect l="1511" r="152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999320" cy="2027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228600" y="2257200"/>
            <a:ext cx="4707000" cy="2463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479920" y="228600"/>
            <a:ext cx="3435120" cy="468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71;p16"/>
          <p:cNvPicPr/>
          <p:nvPr/>
        </p:nvPicPr>
        <p:blipFill>
          <a:blip r:embed="rId2">
            <a:alphaModFix amt="7000"/>
          </a:blip>
          <a:srcRect l="1511" r="152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74;p17"/>
          <p:cNvPicPr/>
          <p:nvPr/>
        </p:nvPicPr>
        <p:blipFill>
          <a:blip r:embed="rId2">
            <a:alphaModFix amt="10000"/>
          </a:blip>
          <a:srcRect l="1511" r="152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892400" y="1829160"/>
            <a:ext cx="108108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4892760" y="359640"/>
            <a:ext cx="107928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title"/>
          </p:nvPr>
        </p:nvSpPr>
        <p:spPr>
          <a:xfrm>
            <a:off x="4893120" y="3580560"/>
            <a:ext cx="1080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228600" y="228600"/>
            <a:ext cx="3368160" cy="207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83;p18"/>
          <p:cNvPicPr/>
          <p:nvPr/>
        </p:nvPicPr>
        <p:blipFill>
          <a:blip r:embed="rId2">
            <a:alphaModFix amt="6000"/>
          </a:blip>
          <a:srcRect l="2271" r="2271" b="1565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6534360" y="356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title"/>
          </p:nvPr>
        </p:nvSpPr>
        <p:spPr>
          <a:xfrm>
            <a:off x="6534360" y="1839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3381480" y="184032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title"/>
          </p:nvPr>
        </p:nvSpPr>
        <p:spPr>
          <a:xfrm>
            <a:off x="3381480" y="356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title"/>
          </p:nvPr>
        </p:nvSpPr>
        <p:spPr>
          <a:xfrm>
            <a:off x="228600" y="1839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7"/>
          <p:cNvSpPr>
            <a:spLocks noGrp="1"/>
          </p:cNvSpPr>
          <p:nvPr>
            <p:ph type="title"/>
          </p:nvPr>
        </p:nvSpPr>
        <p:spPr>
          <a:xfrm>
            <a:off x="228600" y="356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98;p19"/>
          <p:cNvPicPr/>
          <p:nvPr/>
        </p:nvPicPr>
        <p:blipFill>
          <a:blip r:embed="rId2">
            <a:alphaModFix amt="7000"/>
          </a:blip>
          <a:srcRect l="1511" r="152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21360" y="913680"/>
            <a:ext cx="54475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3467520" y="2913480"/>
            <a:ext cx="54475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dk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04;p20"/>
          <p:cNvPicPr/>
          <p:nvPr/>
        </p:nvPicPr>
        <p:blipFill>
          <a:blip r:embed="rId2">
            <a:alphaModFix amt="7000"/>
          </a:blip>
          <a:srcRect l="1511" r="152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228600" y="3856320"/>
            <a:ext cx="508968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7" name="Google Shape;107;p20"/>
          <p:cNvSpPr/>
          <p:nvPr/>
        </p:nvSpPr>
        <p:spPr>
          <a:xfrm>
            <a:off x="6121080" y="3944520"/>
            <a:ext cx="2794320" cy="71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  <a:hlinkClick r:id="rId4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2013120" y="415080"/>
            <a:ext cx="6901920" cy="13111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title"/>
          </p:nvPr>
        </p:nvSpPr>
        <p:spPr>
          <a:xfrm>
            <a:off x="228600" y="4099320"/>
            <a:ext cx="1267920" cy="8154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lt1"/>
                </a:solidFill>
                <a:effectLst/>
                <a:uFillTx/>
                <a:latin typeface="Unbounded"/>
                <a:ea typeface="Unbounded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109;p21"/>
          <p:cNvPicPr/>
          <p:nvPr/>
        </p:nvPicPr>
        <p:blipFill>
          <a:blip r:embed="rId2">
            <a:alphaModFix amt="10000"/>
          </a:blip>
          <a:srcRect l="1511" r="152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111;p22"/>
          <p:cNvPicPr/>
          <p:nvPr/>
        </p:nvPicPr>
        <p:blipFill>
          <a:blip r:embed="rId2">
            <a:alphaModFix amt="7000"/>
          </a:blip>
          <a:srcRect l="1511" r="152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8;p4"/>
          <p:cNvPicPr/>
          <p:nvPr/>
        </p:nvPicPr>
        <p:blipFill>
          <a:blip r:embed="rId2">
            <a:alphaModFix amt="7000"/>
          </a:blip>
          <a:srcRect l="1511" r="152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22;p5"/>
          <p:cNvPicPr/>
          <p:nvPr/>
        </p:nvPicPr>
        <p:blipFill>
          <a:blip r:embed="rId2">
            <a:alphaModFix amt="7000"/>
          </a:blip>
          <a:srcRect l="2236" t="738" r="2236" b="748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364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30;p6"/>
          <p:cNvPicPr/>
          <p:nvPr/>
        </p:nvPicPr>
        <p:blipFill>
          <a:blip r:embed="rId2">
            <a:alphaModFix amt="6000"/>
          </a:blip>
          <a:srcRect l="2271" r="2271"/>
          <a:stretch/>
        </p:blipFill>
        <p:spPr>
          <a:xfrm>
            <a:off x="0" y="0"/>
            <a:ext cx="9143640" cy="522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title"/>
          </p:nvPr>
        </p:nvSpPr>
        <p:spPr>
          <a:xfrm>
            <a:off x="228600" y="4357800"/>
            <a:ext cx="3128400" cy="5569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17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120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127;p27"/>
          <p:cNvPicPr/>
          <p:nvPr/>
        </p:nvPicPr>
        <p:blipFill>
          <a:blip r:embed="rId2">
            <a:alphaModFix/>
          </a:blip>
          <a:srcRect t="7832" b="783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57180" y="473373"/>
            <a:ext cx="7829280" cy="11998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600" b="1" dirty="0">
                <a:solidFill>
                  <a:schemeClr val="tx2"/>
                </a:solidFill>
                <a:latin typeface="Sitka Small Semibold" pitchFamily="2" charset="0"/>
              </a:rPr>
              <a:t>IPL MATCH WINNER PREDICTOR USING MACHINE LEARNING</a:t>
            </a:r>
            <a:endParaRPr lang="fr-FR" sz="3600" b="1" dirty="0">
              <a:solidFill>
                <a:schemeClr val="tx2"/>
              </a:solidFill>
              <a:latin typeface="Sitka Small Semibo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6F526-1A8C-0445-778B-107EB2379C01}"/>
              </a:ext>
            </a:extLst>
          </p:cNvPr>
          <p:cNvSpPr txBox="1"/>
          <p:nvPr/>
        </p:nvSpPr>
        <p:spPr>
          <a:xfrm>
            <a:off x="2814954" y="1546461"/>
            <a:ext cx="46314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  <a:latin typeface="Sitka Small Semibold" pitchFamily="2" charset="0"/>
              </a:rPr>
              <a:t>Presented by:</a:t>
            </a:r>
            <a:br>
              <a:rPr lang="en-US" sz="1800" dirty="0">
                <a:solidFill>
                  <a:schemeClr val="tx2"/>
                </a:solidFill>
                <a:latin typeface="Sitka Small Semibold" pitchFamily="2" charset="0"/>
              </a:rPr>
            </a:br>
            <a:r>
              <a:rPr lang="en-US" sz="1800" dirty="0">
                <a:solidFill>
                  <a:schemeClr val="tx2"/>
                </a:solidFill>
                <a:latin typeface="Sitka Small Semibold" pitchFamily="2" charset="0"/>
              </a:rPr>
              <a:t>Sreekanth A S   </a:t>
            </a:r>
          </a:p>
          <a:p>
            <a:r>
              <a:rPr lang="en-US" sz="1800" dirty="0" err="1">
                <a:solidFill>
                  <a:schemeClr val="tx2"/>
                </a:solidFill>
                <a:latin typeface="Sitka Small Semibold" pitchFamily="2" charset="0"/>
              </a:rPr>
              <a:t>Thiagarajar</a:t>
            </a:r>
            <a:r>
              <a:rPr lang="en-US" sz="1800" dirty="0">
                <a:solidFill>
                  <a:schemeClr val="tx2"/>
                </a:solidFill>
                <a:latin typeface="Sitka Small Semibold" pitchFamily="2" charset="0"/>
              </a:rPr>
              <a:t> College of Engineering  </a:t>
            </a:r>
          </a:p>
          <a:p>
            <a:r>
              <a:rPr lang="en-US" sz="1800" dirty="0">
                <a:solidFill>
                  <a:schemeClr val="tx2"/>
                </a:solidFill>
                <a:latin typeface="Sitka Small Semibold" pitchFamily="2" charset="0"/>
              </a:rPr>
              <a:t>         </a:t>
            </a:r>
            <a:r>
              <a:rPr lang="en-US" sz="1800" dirty="0" err="1">
                <a:solidFill>
                  <a:schemeClr val="tx2"/>
                </a:solidFill>
                <a:latin typeface="Sitka Small Semibold" pitchFamily="2" charset="0"/>
              </a:rPr>
              <a:t>Madurai,Tamil</a:t>
            </a:r>
            <a:r>
              <a:rPr lang="en-US" sz="1800" dirty="0">
                <a:solidFill>
                  <a:schemeClr val="tx2"/>
                </a:solidFill>
                <a:latin typeface="Sitka Small Semibold" pitchFamily="2" charset="0"/>
              </a:rPr>
              <a:t> Nadu </a:t>
            </a:r>
            <a:endParaRPr lang="en-US" dirty="0">
              <a:solidFill>
                <a:schemeClr val="tx2"/>
              </a:solidFill>
              <a:latin typeface="Sitka Small Semibold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189;p30" title="portrait-person-eating-watermelon.jpg"/>
          <p:cNvSpPr/>
          <p:nvPr/>
        </p:nvSpPr>
        <p:spPr>
          <a:xfrm>
            <a:off x="5554261" y="162276"/>
            <a:ext cx="3435120" cy="4686120"/>
          </a:xfrm>
          <a:prstGeom prst="round2DiagRect">
            <a:avLst>
              <a:gd name="adj1" fmla="val 16667"/>
              <a:gd name="adj2" fmla="val 0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295507" y="436351"/>
            <a:ext cx="4938132" cy="427079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/>
          </a:bodyPr>
          <a:lstStyle/>
          <a:p>
            <a:r>
              <a:rPr lang="en-US" sz="2100" b="1" dirty="0"/>
              <a:t>Subtitle:</a:t>
            </a:r>
            <a:br>
              <a:rPr lang="en-US" sz="2100" dirty="0"/>
            </a:br>
            <a:r>
              <a:rPr lang="en-US" sz="2100" dirty="0"/>
              <a:t>A predictive analytics approach with Random Forest &amp; team performance data</a:t>
            </a:r>
          </a:p>
          <a:p>
            <a:br>
              <a:rPr lang="en-US" sz="2100" dirty="0"/>
            </a:br>
            <a:endParaRPr lang="en-US" sz="2100" dirty="0"/>
          </a:p>
          <a:p>
            <a:r>
              <a:rPr lang="en-US" sz="2100" b="1" dirty="0"/>
              <a:t>Objective</a:t>
            </a:r>
            <a:br>
              <a:rPr lang="en-US" sz="2100" dirty="0"/>
            </a:br>
            <a:r>
              <a:rPr lang="en-US" sz="2100" dirty="0"/>
              <a:t>To predict the winning team of an IPL match using historical match and ball-by-ball performance data.</a:t>
            </a:r>
          </a:p>
          <a:p>
            <a:endParaRPr lang="en-US" sz="2100" dirty="0"/>
          </a:p>
          <a:p>
            <a:endParaRPr lang="en-US" sz="2100" dirty="0"/>
          </a:p>
          <a:p>
            <a:r>
              <a:rPr lang="en-US" sz="2100" b="1" dirty="0"/>
              <a:t>Problem Statement</a:t>
            </a:r>
            <a:br>
              <a:rPr lang="en-US" sz="2100" dirty="0"/>
            </a:br>
            <a:r>
              <a:rPr lang="en-US" sz="2100" dirty="0"/>
              <a:t>Can a machine learning model accurately forecast the outcome of a match based on team stats, toss decisions, and venue?</a:t>
            </a:r>
          </a:p>
          <a:p>
            <a:pPr indent="0">
              <a:spcBef>
                <a:spcPts val="1417"/>
              </a:spcBef>
              <a:buNone/>
            </a:pP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61067A2-0595-A8F0-1CB2-B6F89351B82F}"/>
              </a:ext>
            </a:extLst>
          </p:cNvPr>
          <p:cNvSpPr txBox="1"/>
          <p:nvPr/>
        </p:nvSpPr>
        <p:spPr>
          <a:xfrm>
            <a:off x="1484970" y="135001"/>
            <a:ext cx="61740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Sitka Small Semibold" pitchFamily="2" charset="0"/>
              </a:rPr>
              <a:t>Tools &amp; Technologies Used:</a:t>
            </a:r>
            <a:endParaRPr lang="en-US" sz="3200" dirty="0">
              <a:latin typeface="Sitka Small Semibold" pitchFamily="2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D107A55-B4B2-FCB6-2AF4-734D19A82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935320"/>
              </p:ext>
            </p:extLst>
          </p:nvPr>
        </p:nvGraphicFramePr>
        <p:xfrm>
          <a:off x="1300723" y="885224"/>
          <a:ext cx="6542554" cy="4143314"/>
        </p:xfrm>
        <a:graphic>
          <a:graphicData uri="http://schemas.openxmlformats.org/drawingml/2006/table">
            <a:tbl>
              <a:tblPr/>
              <a:tblGrid>
                <a:gridCol w="3271277">
                  <a:extLst>
                    <a:ext uri="{9D8B030D-6E8A-4147-A177-3AD203B41FA5}">
                      <a16:colId xmlns:a16="http://schemas.microsoft.com/office/drawing/2014/main" val="2976201592"/>
                    </a:ext>
                  </a:extLst>
                </a:gridCol>
                <a:gridCol w="3271277">
                  <a:extLst>
                    <a:ext uri="{9D8B030D-6E8A-4147-A177-3AD203B41FA5}">
                      <a16:colId xmlns:a16="http://schemas.microsoft.com/office/drawing/2014/main" val="919036357"/>
                    </a:ext>
                  </a:extLst>
                </a:gridCol>
              </a:tblGrid>
              <a:tr h="291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>
                          <a:latin typeface="Sitka Small Semibold" pitchFamily="2" charset="0"/>
                        </a:rPr>
                        <a:t>Technology</a:t>
                      </a:r>
                      <a:endParaRPr lang="en-US" sz="3200" dirty="0">
                        <a:latin typeface="Sitka Small Semibold" pitchFamily="2" charset="0"/>
                      </a:endParaRP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>
                          <a:latin typeface="Sitka Small Semibold" pitchFamily="2" charset="0"/>
                        </a:rPr>
                        <a:t>Purpose</a:t>
                      </a:r>
                      <a:endParaRPr lang="en-US" sz="3200" dirty="0">
                        <a:latin typeface="Sitka Small Semibold" pitchFamily="2" charset="0"/>
                      </a:endParaRP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301825"/>
                  </a:ext>
                </a:extLst>
              </a:tr>
              <a:tr h="291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>
                          <a:latin typeface="Sitka Small Semibold" pitchFamily="2" charset="0"/>
                        </a:rPr>
                        <a:t>Python</a:t>
                      </a:r>
                      <a:endParaRPr lang="en-US" sz="1300" dirty="0">
                        <a:latin typeface="Sitka Small Semibold" pitchFamily="2" charset="0"/>
                      </a:endParaRP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latin typeface="Sitka Small Semibold" pitchFamily="2" charset="0"/>
                        </a:rPr>
                        <a:t>Core programming language</a:t>
                      </a: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626634"/>
                  </a:ext>
                </a:extLst>
              </a:tr>
              <a:tr h="291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>
                          <a:latin typeface="Sitka Small Semibold" pitchFamily="2" charset="0"/>
                        </a:rPr>
                        <a:t>Pandas</a:t>
                      </a:r>
                      <a:endParaRPr lang="en-US" sz="1300" dirty="0">
                        <a:latin typeface="Sitka Small Semibold" pitchFamily="2" charset="0"/>
                      </a:endParaRP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latin typeface="Sitka Small Semibold" pitchFamily="2" charset="0"/>
                        </a:rPr>
                        <a:t>Data manipulation and analysis</a:t>
                      </a: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007868"/>
                  </a:ext>
                </a:extLst>
              </a:tr>
              <a:tr h="291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>
                          <a:latin typeface="Sitka Small Semibold" pitchFamily="2" charset="0"/>
                        </a:rPr>
                        <a:t>NumPy</a:t>
                      </a:r>
                      <a:endParaRPr lang="en-US" sz="1300" dirty="0">
                        <a:latin typeface="Sitka Small Semibold" pitchFamily="2" charset="0"/>
                      </a:endParaRP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latin typeface="Sitka Small Semibold" pitchFamily="2" charset="0"/>
                        </a:rPr>
                        <a:t>Numerical operations and arrays</a:t>
                      </a: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160235"/>
                  </a:ext>
                </a:extLst>
              </a:tr>
              <a:tr h="291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Sitka Small Semibold" pitchFamily="2" charset="0"/>
                        </a:rPr>
                        <a:t>scikit-learn</a:t>
                      </a:r>
                      <a:endParaRPr lang="en-US" sz="1300">
                        <a:latin typeface="Sitka Small Semibold" pitchFamily="2" charset="0"/>
                      </a:endParaRP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latin typeface="Sitka Small Semibold" pitchFamily="2" charset="0"/>
                        </a:rPr>
                        <a:t>Machine learning library</a:t>
                      </a: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154672"/>
                  </a:ext>
                </a:extLst>
              </a:tr>
              <a:tr h="291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>
                          <a:latin typeface="Sitka Small Semibold" pitchFamily="2" charset="0"/>
                        </a:rPr>
                        <a:t>Matplotlib</a:t>
                      </a:r>
                      <a:endParaRPr lang="en-US" sz="1300" dirty="0">
                        <a:latin typeface="Sitka Small Semibold" pitchFamily="2" charset="0"/>
                      </a:endParaRP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>
                          <a:latin typeface="Sitka Small Semibold" pitchFamily="2" charset="0"/>
                        </a:rPr>
                        <a:t>Data visualization</a:t>
                      </a: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799063"/>
                  </a:ext>
                </a:extLst>
              </a:tr>
              <a:tr h="291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Sitka Small Semibold" pitchFamily="2" charset="0"/>
                        </a:rPr>
                        <a:t>Seaborn</a:t>
                      </a:r>
                      <a:endParaRPr lang="en-US" sz="1300">
                        <a:latin typeface="Sitka Small Semibold" pitchFamily="2" charset="0"/>
                      </a:endParaRP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latin typeface="Sitka Small Semibold" pitchFamily="2" charset="0"/>
                        </a:rPr>
                        <a:t>Statistical plotting</a:t>
                      </a: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535960"/>
                  </a:ext>
                </a:extLst>
              </a:tr>
              <a:tr h="291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Sitka Small Semibold" pitchFamily="2" charset="0"/>
                        </a:rPr>
                        <a:t>Flask</a:t>
                      </a:r>
                      <a:endParaRPr lang="en-US" sz="1300">
                        <a:latin typeface="Sitka Small Semibold" pitchFamily="2" charset="0"/>
                      </a:endParaRP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latin typeface="Sitka Small Semibold" pitchFamily="2" charset="0"/>
                        </a:rPr>
                        <a:t>Lightweight Python web framework</a:t>
                      </a: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882951"/>
                  </a:ext>
                </a:extLst>
              </a:tr>
              <a:tr h="291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Sitka Small Semibold" pitchFamily="2" charset="0"/>
                        </a:rPr>
                        <a:t>HTML</a:t>
                      </a:r>
                      <a:endParaRPr lang="en-US" sz="1300">
                        <a:latin typeface="Sitka Small Semibold" pitchFamily="2" charset="0"/>
                      </a:endParaRP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latin typeface="Sitka Small Semibold" pitchFamily="2" charset="0"/>
                        </a:rPr>
                        <a:t>Structure for the web interface</a:t>
                      </a: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145405"/>
                  </a:ext>
                </a:extLst>
              </a:tr>
              <a:tr h="291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Sitka Small Semibold" pitchFamily="2" charset="0"/>
                        </a:rPr>
                        <a:t>Tailwind CSS</a:t>
                      </a:r>
                      <a:endParaRPr lang="en-US" sz="1300">
                        <a:latin typeface="Sitka Small Semibold" pitchFamily="2" charset="0"/>
                      </a:endParaRP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latin typeface="Sitka Small Semibold" pitchFamily="2" charset="0"/>
                        </a:rPr>
                        <a:t>Styling framework for responsive UI</a:t>
                      </a: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788896"/>
                  </a:ext>
                </a:extLst>
              </a:tr>
              <a:tr h="291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Sitka Small Semibold" pitchFamily="2" charset="0"/>
                        </a:rPr>
                        <a:t>Jinja2</a:t>
                      </a:r>
                      <a:endParaRPr lang="en-US" sz="1300">
                        <a:latin typeface="Sitka Small Semibold" pitchFamily="2" charset="0"/>
                      </a:endParaRP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latin typeface="Sitka Small Semibold" pitchFamily="2" charset="0"/>
                        </a:rPr>
                        <a:t>HTML templating engine in Flask</a:t>
                      </a: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147209"/>
                  </a:ext>
                </a:extLst>
              </a:tr>
              <a:tr h="511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Sitka Small Semibold" pitchFamily="2" charset="0"/>
                        </a:rPr>
                        <a:t>joblib</a:t>
                      </a:r>
                      <a:endParaRPr lang="en-US" sz="1300">
                        <a:latin typeface="Sitka Small Semibold" pitchFamily="2" charset="0"/>
                      </a:endParaRP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latin typeface="Sitka Small Semibold" pitchFamily="2" charset="0"/>
                        </a:rPr>
                        <a:t>Save and load ML models and Python objects</a:t>
                      </a:r>
                    </a:p>
                  </a:txBody>
                  <a:tcPr marL="63967" marR="63967" marT="31983" marB="319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527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8279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F93A04F-6B7B-6F0B-8028-013CD75EB15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0076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u="none" strike="noStrike" dirty="0">
                <a:solidFill>
                  <a:schemeClr val="dk1"/>
                </a:solidFill>
                <a:effectLst/>
                <a:uFillTx/>
                <a:latin typeface="Sitka Small Semibold" pitchFamily="2" charset="0"/>
                <a:ea typeface="Unbounded"/>
              </a:rPr>
              <a:t>Dataset Overview</a:t>
            </a:r>
            <a:endParaRPr lang="fr-FR" sz="3200" b="1" u="none" strike="noStrike" dirty="0">
              <a:solidFill>
                <a:schemeClr val="dk1"/>
              </a:solidFill>
              <a:effectLst/>
              <a:uFillTx/>
              <a:latin typeface="Sitka Small Semibold" pitchFamily="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504BE5-5A9E-1C4A-8FEC-AF7FBC0E7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640" y="828815"/>
            <a:ext cx="758042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matches.csv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Match-level data (e.g., teams, venue, toss winner, match result)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deliveries.csv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Ball-by-ball data (e.g., runs, dismissals, bowler stats)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Merged Dataset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Joined using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matches.id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deliveries.match_id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 179K+ rows capturing every delivery of every match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Both?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 data gives outcome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Delivery data provides granular team performance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271620" y="219780"/>
            <a:ext cx="860076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u="none" strike="noStrike" dirty="0">
                <a:solidFill>
                  <a:schemeClr val="dk1"/>
                </a:solidFill>
                <a:effectLst/>
                <a:uFillTx/>
                <a:latin typeface="Sitka Small Semibold" pitchFamily="2" charset="0"/>
                <a:ea typeface="Unbounded"/>
              </a:rPr>
              <a:t>Data Preprocessing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Sitka Small Semibold" pitchFamily="2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B7D0C0FF-6A13-0B60-BC06-8465F943EDD2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463343" y="1241018"/>
            <a:ext cx="821731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Steps Taken</a:t>
            </a:r>
            <a:r>
              <a:rPr lang="en-US" altLang="en-US" sz="2000" b="1" dirty="0">
                <a:latin typeface="Arial" panose="020B0604020202020204" pitchFamily="34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Filled missing values: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'Unknown',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winner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'No Winner',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dismissal_kind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'None'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names (e.g., “Delhi Daredevils” → “Delhi Capitals”)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fields → Title Case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Clean, consistent dataset ready for ML 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D1191-351F-55C9-92B6-4FEF66AB12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0076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u="none" strike="noStrike" dirty="0">
                <a:solidFill>
                  <a:schemeClr val="dk1"/>
                </a:solidFill>
                <a:effectLst/>
                <a:uFillTx/>
                <a:latin typeface="Sitka Small Semibold" pitchFamily="2" charset="0"/>
                <a:ea typeface="Unbounded"/>
              </a:rPr>
              <a:t>Feature Engineering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Sitka Small Semibold" pitchFamily="2" charset="0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38199" y="923400"/>
            <a:ext cx="8877201" cy="408721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20000"/>
          </a:bodyPr>
          <a:lstStyle/>
          <a:p>
            <a:r>
              <a:rPr lang="en-US" sz="2900" b="1" dirty="0"/>
              <a:t>New Features Added:</a:t>
            </a:r>
          </a:p>
          <a:p>
            <a:endParaRPr lang="en-US" sz="2900" b="1" dirty="0"/>
          </a:p>
          <a:p>
            <a:endParaRPr lang="en-US" sz="2900" dirty="0"/>
          </a:p>
          <a:p>
            <a:r>
              <a:rPr lang="en-US" sz="2900" b="1" dirty="0"/>
              <a:t>Batting Strength</a:t>
            </a:r>
            <a:br>
              <a:rPr lang="en-US" sz="2900" dirty="0"/>
            </a:br>
            <a:r>
              <a:rPr lang="en-US" sz="2900" dirty="0"/>
              <a:t>Avg runs per ball → scaled to runs per over</a:t>
            </a:r>
          </a:p>
          <a:p>
            <a:endParaRPr lang="en-US" sz="2900" dirty="0"/>
          </a:p>
          <a:p>
            <a:r>
              <a:rPr lang="en-US" sz="2900" b="1" dirty="0"/>
              <a:t>Bowling Strength</a:t>
            </a:r>
            <a:br>
              <a:rPr lang="en-US" sz="2900" dirty="0"/>
            </a:br>
            <a:r>
              <a:rPr lang="en-US" sz="2900" dirty="0"/>
              <a:t>Avg wickets per ball → scaled to wickets per over</a:t>
            </a:r>
          </a:p>
          <a:p>
            <a:endParaRPr lang="en-US" sz="2900" dirty="0"/>
          </a:p>
          <a:p>
            <a:r>
              <a:rPr lang="en-US" sz="2900" b="1" dirty="0"/>
              <a:t>Head-to-Head Win Ratio</a:t>
            </a:r>
            <a:br>
              <a:rPr lang="en-US" sz="2900" dirty="0"/>
            </a:br>
            <a:r>
              <a:rPr lang="en-US" sz="2900" dirty="0"/>
              <a:t>Team A vs Team B win % from match history</a:t>
            </a:r>
          </a:p>
          <a:p>
            <a:endParaRPr lang="en-US" sz="2900" dirty="0"/>
          </a:p>
          <a:p>
            <a:endParaRPr lang="en-US" sz="2900" dirty="0"/>
          </a:p>
          <a:p>
            <a:r>
              <a:rPr lang="en-US" sz="2900" b="1" dirty="0"/>
              <a:t>Why Important?</a:t>
            </a:r>
            <a:br>
              <a:rPr lang="en-US" sz="2900" dirty="0"/>
            </a:br>
            <a:r>
              <a:rPr lang="en-US" sz="2900" dirty="0"/>
              <a:t>These engineered features reflect real team performance trends beyond raw stats.</a:t>
            </a:r>
          </a:p>
          <a:p>
            <a:pPr indent="0" algn="ctr">
              <a:buNone/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0076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u="none" strike="noStrike" dirty="0">
                <a:solidFill>
                  <a:schemeClr val="dk1"/>
                </a:solidFill>
                <a:effectLst/>
                <a:uFillTx/>
                <a:latin typeface="Sitka Small Semibold" pitchFamily="2" charset="0"/>
                <a:ea typeface="Unbounded"/>
              </a:rPr>
              <a:t>Model Architecture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Sitka Small Semibold" pitchFamily="2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6B04A64A-28C3-0A6C-F92C-0F6880315CB8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79917" y="770231"/>
            <a:ext cx="6328316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Used: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RandomForestClassifier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categorical + numeric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Resistant to overfitting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performance on structured 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 Overview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OneHotEncoding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teams, venue, toss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preprocessing and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with 100 trees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scikit-learn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pandas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Pipeline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ColumnTransformer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340292-214F-522E-7D08-4DC5C3A2E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231" y="352961"/>
            <a:ext cx="4183852" cy="40872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89;p30" title="portrait-person-eating-watermelon.jpg"/>
          <p:cNvSpPr/>
          <p:nvPr/>
        </p:nvSpPr>
        <p:spPr>
          <a:xfrm>
            <a:off x="5479920" y="228600"/>
            <a:ext cx="3435120" cy="4686120"/>
          </a:xfrm>
          <a:prstGeom prst="round2DiagRect">
            <a:avLst>
              <a:gd name="adj1" fmla="val 16667"/>
              <a:gd name="adj2" fmla="val 0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-220980" y="91440"/>
            <a:ext cx="5937660" cy="5073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1" u="none" strike="noStrike" dirty="0">
                <a:solidFill>
                  <a:schemeClr val="dk1"/>
                </a:solidFill>
                <a:effectLst/>
                <a:uFillTx/>
                <a:latin typeface="Sitka Small Semibold" pitchFamily="2" charset="0"/>
                <a:ea typeface="Unbounded"/>
              </a:rPr>
              <a:t>Model Training &amp; Evaluation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Sitka Small Semibold" pitchFamily="2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431CAE-2C3D-0FDE-D6DC-C3C507845D43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83820" y="735800"/>
            <a:ext cx="538848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Approach</a:t>
            </a:r>
            <a:r>
              <a:rPr lang="en-US" altLang="en-US" sz="2000" b="1" dirty="0">
                <a:latin typeface="Arial" panose="020B0604020202020204" pitchFamily="34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Train/Test Split: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80/20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train_test_split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Stratified sampling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balance team representation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~[Insert score, e.g., 78%]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Classification Report: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Precision, Recall, F1-Score per team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accuracy on frequent matchups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Slight drop on rare team combinations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D9B7C-5F4E-B17D-3789-DCB9B3032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Sitka Small Semibold" pitchFamily="2" charset="0"/>
              </a:rPr>
              <a:t>Exploratory Data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98FC4E-B5C1-6395-4D9A-B7194DF5EC82}"/>
              </a:ext>
            </a:extLst>
          </p:cNvPr>
          <p:cNvSpPr txBox="1"/>
          <p:nvPr/>
        </p:nvSpPr>
        <p:spPr>
          <a:xfrm>
            <a:off x="0" y="841246"/>
            <a:ext cx="26985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Sitka Small Semibold" pitchFamily="2" charset="0"/>
              </a:rPr>
              <a:t>Top 10 Winning Teams</a:t>
            </a:r>
            <a:r>
              <a:rPr lang="en-US" dirty="0">
                <a:latin typeface="Sitka Small Semibold" pitchFamily="2" charset="0"/>
              </a:rPr>
              <a:t> (bar plot)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5FFB2F-0F06-7099-0638-C07BC703FBFC}"/>
              </a:ext>
            </a:extLst>
          </p:cNvPr>
          <p:cNvSpPr txBox="1"/>
          <p:nvPr/>
        </p:nvSpPr>
        <p:spPr>
          <a:xfrm>
            <a:off x="3067002" y="841245"/>
            <a:ext cx="26985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Sitka Small Semibold" pitchFamily="2" charset="0"/>
              </a:rPr>
              <a:t>Average runs per venue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7A5197-FB8F-CACF-F34B-EACADC581D92}"/>
              </a:ext>
            </a:extLst>
          </p:cNvPr>
          <p:cNvSpPr txBox="1"/>
          <p:nvPr/>
        </p:nvSpPr>
        <p:spPr>
          <a:xfrm>
            <a:off x="5962185" y="763187"/>
            <a:ext cx="28704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Sitka Small Semibold" pitchFamily="2" charset="0"/>
              </a:rPr>
              <a:t>Toss Decision Impact in each venue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5806E2-8ED0-F16F-FBCC-C71E1A97A3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09519"/>
            <a:ext cx="3002279" cy="17513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B8F007-40D4-1CF7-827E-F18692DC0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280" y="1409518"/>
            <a:ext cx="3097862" cy="17702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8A77DF-0096-E4B6-FAEA-7D32235379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142" y="1390642"/>
            <a:ext cx="3097862" cy="17702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E2BD500-82CE-540A-7676-8B01B07C1166}"/>
              </a:ext>
            </a:extLst>
          </p:cNvPr>
          <p:cNvSpPr txBox="1"/>
          <p:nvPr/>
        </p:nvSpPr>
        <p:spPr>
          <a:xfrm>
            <a:off x="493394" y="3341846"/>
            <a:ext cx="77666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Sitka Small Semibold" pitchFamily="2" charset="0"/>
              </a:rPr>
              <a:t>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Sitka Small Semibold" pitchFamily="2" charset="0"/>
              </a:rPr>
              <a:t>Toss decisions affect win rate (~60% for fielding first)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Sitka Small Semibold" pitchFamily="2" charset="0"/>
              </a:rPr>
              <a:t>Home ground advantage visible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Sitka Small Semibold" pitchFamily="2" charset="0"/>
              </a:rPr>
              <a:t>MI and CSK are top winners historically</a:t>
            </a:r>
          </a:p>
        </p:txBody>
      </p:sp>
    </p:spTree>
    <p:extLst>
      <p:ext uri="{BB962C8B-B14F-4D97-AF65-F5344CB8AC3E}">
        <p14:creationId xmlns:p14="http://schemas.microsoft.com/office/powerpoint/2010/main" val="2330374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DE212-0AA1-2190-E84B-A851BB5A5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167B-EB5A-DAFA-96FB-8E27BBF56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Sitka Small Semibold" pitchFamily="2" charset="0"/>
              </a:rPr>
              <a:t>Sample Prediction 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64ACB-4C08-0508-D981-5909D1890FB1}"/>
              </a:ext>
            </a:extLst>
          </p:cNvPr>
          <p:cNvSpPr txBox="1"/>
          <p:nvPr/>
        </p:nvSpPr>
        <p:spPr>
          <a:xfrm>
            <a:off x="884663" y="864054"/>
            <a:ext cx="74267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Example Input:</a:t>
            </a:r>
            <a:endParaRPr lang="en-US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/>
              <a:t>Venue: Wankhede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/>
              <a:t>Team1: Chennai Super Kings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/>
              <a:t>Team2: Mumbai Indians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/>
              <a:t>Toss Winner: MI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/>
              <a:t>Toss Decision: Field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en-US" dirty="0"/>
          </a:p>
          <a:p>
            <a:pPr algn="ctr">
              <a:buNone/>
            </a:pPr>
            <a:r>
              <a:rPr lang="en-US" b="1" dirty="0"/>
              <a:t>Model Output:</a:t>
            </a:r>
            <a:endParaRPr lang="en-US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b="1" dirty="0"/>
              <a:t>Predicted Winner:</a:t>
            </a:r>
            <a:r>
              <a:rPr lang="en-US" dirty="0"/>
              <a:t> CSK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en-US" dirty="0"/>
          </a:p>
          <a:p>
            <a:pPr algn="ctr">
              <a:buNone/>
            </a:pPr>
            <a:r>
              <a:rPr lang="en-US" b="1" dirty="0"/>
              <a:t>Stats Displayed:</a:t>
            </a:r>
            <a:endParaRPr lang="en-US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/>
              <a:t>Batting Strength (runs/over)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/>
              <a:t>Bowling Strength (wickets/over)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/>
              <a:t>Head-to-head win ratios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19269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94CBEF-8C57-987A-13E7-8F805A6CE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5571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8AACD3-6F4C-F6FF-783D-B0153CDE0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57132"/>
            <a:ext cx="9144000" cy="586367"/>
          </a:xfrm>
        </p:spPr>
        <p:txBody>
          <a:bodyPr/>
          <a:lstStyle/>
          <a:p>
            <a:pPr algn="ctr"/>
            <a:r>
              <a:rPr lang="en-US" sz="3200" dirty="0">
                <a:latin typeface="Sitka Small Semibold" pitchFamily="2" charset="0"/>
              </a:rPr>
              <a:t>This the webpage developed</a:t>
            </a:r>
          </a:p>
        </p:txBody>
      </p:sp>
    </p:spTree>
    <p:extLst>
      <p:ext uri="{BB962C8B-B14F-4D97-AF65-F5344CB8AC3E}">
        <p14:creationId xmlns:p14="http://schemas.microsoft.com/office/powerpoint/2010/main" val="1544818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0558A5-2D86-5F07-E41A-90CE316B0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5273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CB38DA-54D4-51A3-D350-489635F2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59" y="4445620"/>
            <a:ext cx="8604000" cy="569800"/>
          </a:xfrm>
        </p:spPr>
        <p:txBody>
          <a:bodyPr/>
          <a:lstStyle/>
          <a:p>
            <a:pPr algn="ctr"/>
            <a:r>
              <a:rPr lang="en-US" sz="3600" dirty="0">
                <a:latin typeface="Sitka Small Semibold" pitchFamily="2" charset="0"/>
              </a:rPr>
              <a:t>Details are entered</a:t>
            </a:r>
          </a:p>
        </p:txBody>
      </p:sp>
    </p:spTree>
    <p:extLst>
      <p:ext uri="{BB962C8B-B14F-4D97-AF65-F5344CB8AC3E}">
        <p14:creationId xmlns:p14="http://schemas.microsoft.com/office/powerpoint/2010/main" val="358174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73B47-1D6C-D09E-0180-4758B03F1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995" y="4676078"/>
            <a:ext cx="8604000" cy="406249"/>
          </a:xfrm>
        </p:spPr>
        <p:txBody>
          <a:bodyPr/>
          <a:lstStyle/>
          <a:p>
            <a:pPr algn="ctr"/>
            <a:r>
              <a:rPr lang="en-US" sz="2000" dirty="0"/>
              <a:t>Model predicted the match result and displays the stats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95FE6-D234-E1CF-152C-D299384F5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2039"/>
            <a:ext cx="9144000" cy="467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994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5C925-D256-AA37-0F5E-5CD29BE50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62B0AB2-DA51-D638-BC2D-8709392140C3}"/>
              </a:ext>
            </a:extLst>
          </p:cNvPr>
          <p:cNvSpPr txBox="1"/>
          <p:nvPr/>
        </p:nvSpPr>
        <p:spPr>
          <a:xfrm>
            <a:off x="2282283" y="395197"/>
            <a:ext cx="45794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Sitka Small Semibold" pitchFamily="2" charset="0"/>
              </a:rPr>
              <a:t>Conclusion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59B33C-EDEC-1A04-36A8-AFF8F08A5BFD}"/>
              </a:ext>
            </a:extLst>
          </p:cNvPr>
          <p:cNvSpPr txBox="1"/>
          <p:nvPr/>
        </p:nvSpPr>
        <p:spPr>
          <a:xfrm>
            <a:off x="780586" y="1417588"/>
            <a:ext cx="75828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Conclusion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Successfully built a working IPL match winner predictor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Used real stats, engineered features, and a robust ML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End-to-end integration with a Flask-based UI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D44C94-627A-C4B7-A631-BCF3ADA45CAD}"/>
              </a:ext>
            </a:extLst>
          </p:cNvPr>
          <p:cNvSpPr txBox="1"/>
          <p:nvPr/>
        </p:nvSpPr>
        <p:spPr>
          <a:xfrm>
            <a:off x="141248" y="4620280"/>
            <a:ext cx="47355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800" b="1" u="none" strike="noStrike" dirty="0">
                <a:solidFill>
                  <a:schemeClr val="dk1"/>
                </a:solidFill>
                <a:effectLst/>
                <a:uFillTx/>
                <a:latin typeface="Sitka Small Semibold" pitchFamily="2" charset="0"/>
                <a:ea typeface="Unbounded"/>
              </a:rPr>
              <a:t>Thank you!</a:t>
            </a:r>
            <a:endParaRPr lang="en-US" sz="2800" dirty="0">
              <a:latin typeface="Sitka Small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035338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al Flavors of Latam by Slidesgo">
  <a:themeElements>
    <a:clrScheme name="Simple Light">
      <a:dk1>
        <a:srgbClr val="311300"/>
      </a:dk1>
      <a:lt1>
        <a:srgbClr val="FAEEE5"/>
      </a:lt1>
      <a:dk2>
        <a:srgbClr val="BE550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113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606</Words>
  <Application>Microsoft Office PowerPoint</Application>
  <PresentationFormat>On-screen Show (16:9)</PresentationFormat>
  <Paragraphs>128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Arial Unicode MS</vt:lpstr>
      <vt:lpstr>Manrope</vt:lpstr>
      <vt:lpstr>OpenSymbol</vt:lpstr>
      <vt:lpstr>Sitka Small Semibold</vt:lpstr>
      <vt:lpstr>Symbol</vt:lpstr>
      <vt:lpstr>Unbounded</vt:lpstr>
      <vt:lpstr>Wingdings</vt:lpstr>
      <vt:lpstr>Tropical Flavors of Latam by Slidesgo</vt:lpstr>
      <vt:lpstr>Slidesgo Final Pages</vt:lpstr>
      <vt:lpstr>IPL MATCH WINNER PREDICTOR USING MACHINE LEARNING</vt:lpstr>
      <vt:lpstr>PowerPoint Presentation</vt:lpstr>
      <vt:lpstr>PowerPoint Presentation</vt:lpstr>
      <vt:lpstr>Dataset Overview</vt:lpstr>
      <vt:lpstr>Data Preprocessing</vt:lpstr>
      <vt:lpstr>Feature Engineering</vt:lpstr>
      <vt:lpstr>Model Architecture</vt:lpstr>
      <vt:lpstr>Model Training &amp; Evaluation</vt:lpstr>
      <vt:lpstr>Exploratory Data Visualization</vt:lpstr>
      <vt:lpstr>Sample Prediction Output</vt:lpstr>
      <vt:lpstr>This the webpage developed</vt:lpstr>
      <vt:lpstr>Details are entered</vt:lpstr>
      <vt:lpstr>Model predicted the match result and displays the stats 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Sreekanth A S</cp:lastModifiedBy>
  <cp:revision>2</cp:revision>
  <dcterms:modified xsi:type="dcterms:W3CDTF">2025-07-23T18:50:29Z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2025-07-23T17:28:40Z</dcterms:created>
  <dc:creator>Unknown Creator</dc:creator>
  <dc:description/>
  <dc:language>en-US</dc:language>
  <cp:lastModifiedBy>Unknown Creator</cp:lastModifiedBy>
  <dcterms:modified xsi:type="dcterms:W3CDTF">2025-07-23T17:28:40Z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
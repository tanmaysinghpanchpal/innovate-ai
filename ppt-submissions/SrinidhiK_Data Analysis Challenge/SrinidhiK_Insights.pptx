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56" r:id="rId10"/>
    <p:sldId id="262" r:id="rId11"/>
    <p:sldId id="264" r:id="rId12"/>
    <p:sldId id="267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73C3D-2277-418C-83AF-1D677B5F43EF}" v="45" dt="2025-07-24T15:36:44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2177-5CDA-CE7A-BC5B-6E926A22D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54D67-CDF5-71D1-F9F4-A71530FEC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52FF4-A6FC-307A-8EE7-9CCF0244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3F11-7FC5-A8FE-9A8F-A4CA71D8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6E037-117A-D15F-9A73-0B746948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45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8C35E-0616-84DE-FD56-0F33195C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D38B5-6F05-C7A7-165A-AD881B4C8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383BF-4585-717C-31B5-A385B4B4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841AF-5BA4-A2A2-559B-7883447A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47679-3FA8-E7C1-47B4-926A1C79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9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D0A5-848C-623E-435E-5FB0DBFB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86364-9187-47E2-4165-B957B427C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92AC7-D7B9-66D4-9FB8-FFDBB1A0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5DCA-B4CB-7CB1-C2AC-D659A7A1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B365-93D4-059D-D664-C75D9C62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3E2D-EAAB-6B2B-83C1-F082EC98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A60B-B8D2-9FF1-863E-254B03C20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4583C-E8E5-5C80-5FDE-8FAF7FDE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9B826-FD00-381B-FAE4-F25C4709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CB8F4-B293-8BC4-9CD4-F297CD90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62952-8819-B61C-2C69-36909B90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61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73E8-4111-D0E9-4D37-3E2708E2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3772-AB55-467A-561B-CFA8FEF22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CF273-8443-6A4E-9F5E-FD9F8AFFC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F4F18-7178-7A60-B3BC-53867FC7B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C2A37-B4C5-87C1-95A2-02704D34C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5E115-D576-B70C-FFA1-81436C38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2C71EA-1D38-2CC8-A5A8-EF7A95B9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7842F-38D6-340E-5821-AD92BB87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36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389B-0F98-C2BB-A015-4FC1821D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E2627-75A4-6D20-1605-9FC75A32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0FDF3-9FE2-D859-1837-0534A145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A10C8-7E8F-89D3-1147-C79B2647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93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F2EEA-BA2C-6ED5-3375-FDDDA5C0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4086E-F3F1-D609-5CA4-877DCCC0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19A5-3CFA-F723-3156-CCA494A1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04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02F3-1017-681E-95EC-A942FB2B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3048D-C7DC-5FDB-59A0-429D9B6DC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B0EB6-E754-8EE9-BAD4-381F05A0C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4DA88-DDC6-E1E2-BBE2-664ECC37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9D722-9BAB-B1E6-07AF-4B8170AB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0DB49-98F2-5250-88A6-8E982370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B52F-022E-1F0B-E29C-A7DEDB10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23E3A-209C-70CF-EA12-B1112DC76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439D9-1F19-7147-1D52-75E33FE9B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66A66-5D68-8C7B-0E1B-7B4ACC75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2D548-DB03-33D8-DC49-922EEF05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E914A-EF74-55DE-2272-94C6D1E9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0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1FDC-E27A-D82F-FC97-53128137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E6376-564F-E75A-2921-535E4850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523A1-AEEB-896E-9696-F2DB7FEA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0014-DD8D-CBE9-8481-54C82C8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C35C-5850-6275-C50C-F57D2E79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9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1A7A9-4C51-9768-F139-3D63FBD20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7C1D6-C7D6-641A-9357-13CC9C90C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5D45-6ABE-05DC-C503-328921380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1E0C-E1B5-B213-2755-D96069E9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66052-7AEA-6912-E19F-7927C94E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60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52E467-EE5C-7283-ACBF-D750D460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DAB1-9AC3-4347-43ED-FEAE6E20C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1BE4C-69DE-74E9-3B10-96B6A2DCA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0790F-03F7-4200-94C8-A7F688C87C15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02597-8D6E-9BF5-6692-E1B5906EF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702C-AC22-20B1-20CA-FDBC2F13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43ACE-65D3-4D36-877F-671E40335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5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.png"/><Relationship Id="rId18" Type="http://schemas.openxmlformats.org/officeDocument/2006/relationships/slide" Target="slide9.xml"/><Relationship Id="rId26" Type="http://schemas.openxmlformats.org/officeDocument/2006/relationships/image" Target="../media/image9.png"/><Relationship Id="rId3" Type="http://schemas.openxmlformats.org/officeDocument/2006/relationships/slide" Target="slide4.xml"/><Relationship Id="rId21" Type="http://schemas.openxmlformats.org/officeDocument/2006/relationships/slide" Target="slide10.xml"/><Relationship Id="rId7" Type="http://schemas.openxmlformats.org/officeDocument/2006/relationships/image" Target="../media/image2.png"/><Relationship Id="rId12" Type="http://schemas.openxmlformats.org/officeDocument/2006/relationships/slide" Target="slide7.xml"/><Relationship Id="rId17" Type="http://schemas.openxmlformats.org/officeDocument/2006/relationships/image" Target="../media/image6.png"/><Relationship Id="rId25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image" Target="../media/image4.png"/><Relationship Id="rId24" Type="http://schemas.openxmlformats.org/officeDocument/2006/relationships/slide" Target="slide11.xml"/><Relationship Id="rId5" Type="http://schemas.openxmlformats.org/officeDocument/2006/relationships/image" Target="../media/image2.png"/><Relationship Id="rId15" Type="http://schemas.openxmlformats.org/officeDocument/2006/relationships/slide" Target="slide8.xml"/><Relationship Id="rId23" Type="http://schemas.openxmlformats.org/officeDocument/2006/relationships/image" Target="../media/image8.png"/><Relationship Id="rId28" Type="http://schemas.openxmlformats.org/officeDocument/2006/relationships/image" Target="../media/image9.png"/><Relationship Id="rId10" Type="http://schemas.openxmlformats.org/officeDocument/2006/relationships/image" Target="../media/image3.png"/><Relationship Id="rId19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slide" Target="slide6.xml"/><Relationship Id="rId14" Type="http://schemas.openxmlformats.org/officeDocument/2006/relationships/image" Target="../media/image5.png"/><Relationship Id="rId22" Type="http://schemas.openxmlformats.org/officeDocument/2006/relationships/image" Target="../media/image7.png"/><Relationship Id="rId27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DCF9F1-440E-EC7A-70F0-5507140B5BFE}"/>
              </a:ext>
            </a:extLst>
          </p:cNvPr>
          <p:cNvSpPr/>
          <p:nvPr/>
        </p:nvSpPr>
        <p:spPr>
          <a:xfrm rot="2867378">
            <a:off x="19631609" y="-19738781"/>
            <a:ext cx="5547401" cy="156894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090F1C-E083-A0C3-5493-67D42B17926A}"/>
              </a:ext>
            </a:extLst>
          </p:cNvPr>
          <p:cNvSpPr/>
          <p:nvPr/>
        </p:nvSpPr>
        <p:spPr>
          <a:xfrm rot="2847479">
            <a:off x="17233952" y="-9625611"/>
            <a:ext cx="2681279" cy="7971961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09FBA7-CFF0-8747-0472-4B74C45875BD}"/>
              </a:ext>
            </a:extLst>
          </p:cNvPr>
          <p:cNvSpPr/>
          <p:nvPr/>
        </p:nvSpPr>
        <p:spPr>
          <a:xfrm rot="2847479">
            <a:off x="16962499" y="-4729609"/>
            <a:ext cx="2681279" cy="7090682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F159A7-0E97-0DA6-7B4B-E3CE5E26EB6C}"/>
              </a:ext>
            </a:extLst>
          </p:cNvPr>
          <p:cNvSpPr/>
          <p:nvPr/>
        </p:nvSpPr>
        <p:spPr>
          <a:xfrm rot="2847479">
            <a:off x="17858185" y="-13798968"/>
            <a:ext cx="2681279" cy="6926159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1A1D-439A-4AF5-932E-18A87B5F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E2E654-A26C-49BB-30AB-4A7BD6225023}"/>
              </a:ext>
            </a:extLst>
          </p:cNvPr>
          <p:cNvSpPr/>
          <p:nvPr/>
        </p:nvSpPr>
        <p:spPr>
          <a:xfrm rot="2867378">
            <a:off x="2945598" y="-5954629"/>
            <a:ext cx="5547401" cy="156894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51397-DB84-407D-2417-4C77F5BDF3B7}"/>
              </a:ext>
            </a:extLst>
          </p:cNvPr>
          <p:cNvSpPr txBox="1"/>
          <p:nvPr/>
        </p:nvSpPr>
        <p:spPr>
          <a:xfrm>
            <a:off x="839715" y="2721114"/>
            <a:ext cx="7165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5400" dirty="0">
                <a:latin typeface="Algerian" panose="04020705040A02060702" pitchFamily="82" charset="0"/>
              </a:rPr>
              <a:t>Data Analysis</a:t>
            </a:r>
            <a:endParaRPr lang="en-US" sz="5400" dirty="0">
              <a:latin typeface="Algerian" panose="04020705040A02060702" pitchFamily="82" charset="0"/>
              <a:ea typeface="ADLaM Display" panose="02010000000000000000" pitchFamily="2" charset="0"/>
              <a:cs typeface="Aharoni" panose="020F0502020204030204" pitchFamily="2" charset="-79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6442AE-7FD9-B000-4DDE-1534D2AB6426}"/>
              </a:ext>
            </a:extLst>
          </p:cNvPr>
          <p:cNvSpPr/>
          <p:nvPr/>
        </p:nvSpPr>
        <p:spPr>
          <a:xfrm rot="2847479">
            <a:off x="8598607" y="-1822112"/>
            <a:ext cx="2681279" cy="7971961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EBA4ED-8581-FDA9-699E-B5EB7661FF8D}"/>
              </a:ext>
            </a:extLst>
          </p:cNvPr>
          <p:cNvSpPr/>
          <p:nvPr/>
        </p:nvSpPr>
        <p:spPr>
          <a:xfrm rot="2847479">
            <a:off x="12052622" y="-342769"/>
            <a:ext cx="2681279" cy="7090682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F306AE-9237-8F8A-B0F5-30731A0BE4C8}"/>
              </a:ext>
            </a:extLst>
          </p:cNvPr>
          <p:cNvSpPr/>
          <p:nvPr/>
        </p:nvSpPr>
        <p:spPr>
          <a:xfrm rot="2847479">
            <a:off x="7393379" y="-4314004"/>
            <a:ext cx="2681279" cy="6926159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7D266-02E9-065B-310D-5EC8905847D0}"/>
              </a:ext>
            </a:extLst>
          </p:cNvPr>
          <p:cNvSpPr txBox="1"/>
          <p:nvPr/>
        </p:nvSpPr>
        <p:spPr>
          <a:xfrm>
            <a:off x="2186585" y="3526971"/>
            <a:ext cx="2512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sz="3200" dirty="0">
                <a:latin typeface="Aharoni" panose="02010803020104030203" pitchFamily="2" charset="-79"/>
                <a:cs typeface="Aharoni" panose="02010803020104030203" pitchFamily="2" charset="-79"/>
              </a:rPr>
              <a:t>IPL Data Set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5476A-3DBC-959A-CB14-CEDD85EB5356}"/>
              </a:ext>
            </a:extLst>
          </p:cNvPr>
          <p:cNvSpPr txBox="1"/>
          <p:nvPr/>
        </p:nvSpPr>
        <p:spPr>
          <a:xfrm>
            <a:off x="4698811" y="484529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Srinidhi K</a:t>
            </a:r>
          </a:p>
        </p:txBody>
      </p:sp>
    </p:spTree>
    <p:extLst>
      <p:ext uri="{BB962C8B-B14F-4D97-AF65-F5344CB8AC3E}">
        <p14:creationId xmlns:p14="http://schemas.microsoft.com/office/powerpoint/2010/main" val="3155290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26D67A3-EA66-EBFA-3040-F7FF54096EE3}"/>
              </a:ext>
            </a:extLst>
          </p:cNvPr>
          <p:cNvSpPr/>
          <p:nvPr/>
        </p:nvSpPr>
        <p:spPr>
          <a:xfrm rot="8287093">
            <a:off x="-4169956" y="-9363640"/>
            <a:ext cx="5547401" cy="156894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984035A-784E-5500-5A7E-AA37DB09FE7B}"/>
              </a:ext>
            </a:extLst>
          </p:cNvPr>
          <p:cNvSpPr/>
          <p:nvPr/>
        </p:nvSpPr>
        <p:spPr>
          <a:xfrm rot="2847479">
            <a:off x="8598607" y="-1822112"/>
            <a:ext cx="2681279" cy="7971961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A3FF66A-F074-3970-80C2-B350DE673BA5}"/>
              </a:ext>
            </a:extLst>
          </p:cNvPr>
          <p:cNvSpPr/>
          <p:nvPr/>
        </p:nvSpPr>
        <p:spPr>
          <a:xfrm rot="2847479">
            <a:off x="12052622" y="-342769"/>
            <a:ext cx="2681279" cy="7090682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A78A90-E743-F4FD-A732-F7FE8DA572AC}"/>
              </a:ext>
            </a:extLst>
          </p:cNvPr>
          <p:cNvSpPr/>
          <p:nvPr/>
        </p:nvSpPr>
        <p:spPr>
          <a:xfrm rot="2847479">
            <a:off x="7393379" y="-4314004"/>
            <a:ext cx="2681279" cy="6926159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CD47AF-DCF6-C89B-CEBB-78BDE8ABFAA8}"/>
              </a:ext>
            </a:extLst>
          </p:cNvPr>
          <p:cNvCxnSpPr>
            <a:cxnSpLocks/>
          </p:cNvCxnSpPr>
          <p:nvPr/>
        </p:nvCxnSpPr>
        <p:spPr>
          <a:xfrm flipV="1">
            <a:off x="480060" y="3429000"/>
            <a:ext cx="11163300" cy="1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0D68BEC2-C9EB-D1A1-95A0-B1C0610A26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0889152"/>
                  </p:ext>
                </p:extLst>
              </p:nvPr>
            </p:nvGraphicFramePr>
            <p:xfrm>
              <a:off x="480059" y="2506409"/>
              <a:ext cx="1388534" cy="781050"/>
            </p:xfrm>
            <a:graphic>
              <a:graphicData uri="http://schemas.microsoft.com/office/powerpoint/2016/slidezoom">
                <pslz:sldZm>
                  <pslz:sldZmObj sldId="257" cId="633007242">
                    <pslz:zmPr id="{3A97F629-D98D-48E7-8D38-245B049CA705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8534" cy="7810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D68BEC2-C9EB-D1A1-95A0-B1C0610A26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059" y="2506409"/>
                <a:ext cx="1388534" cy="7810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854C9977-5058-6199-CB1F-A20D4742D7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228870"/>
                  </p:ext>
                </p:extLst>
              </p:nvPr>
            </p:nvGraphicFramePr>
            <p:xfrm>
              <a:off x="1625599" y="3649739"/>
              <a:ext cx="1344507" cy="756285"/>
            </p:xfrm>
            <a:graphic>
              <a:graphicData uri="http://schemas.microsoft.com/office/powerpoint/2016/slidezoom">
                <pslz:sldZm>
                  <pslz:sldZmObj sldId="258" cId="3201580725">
                    <pslz:zmPr id="{DD992B73-2FA2-402D-BC1D-BA0E45079CA0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4507" cy="75628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54C9977-5058-6199-CB1F-A20D4742D7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5599" y="3649739"/>
                <a:ext cx="1344507" cy="75628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2F103115-5CEE-7ED9-4DB6-66AC32DE23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6315044"/>
                  </p:ext>
                </p:extLst>
              </p:nvPr>
            </p:nvGraphicFramePr>
            <p:xfrm>
              <a:off x="2811653" y="2436652"/>
              <a:ext cx="1388535" cy="781051"/>
            </p:xfrm>
            <a:graphic>
              <a:graphicData uri="http://schemas.microsoft.com/office/powerpoint/2016/slidezoom">
                <pslz:sldZm>
                  <pslz:sldZmObj sldId="259" cId="1649941443">
                    <pslz:zmPr id="{D011910C-C61A-4D19-972E-0E65F1B410A3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8535" cy="7810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F103115-5CEE-7ED9-4DB6-66AC32DE23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11653" y="2436652"/>
                <a:ext cx="1388535" cy="7810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A8E9B9B9-1032-3BD6-9834-D32A14CAEA6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4958629"/>
                  </p:ext>
                </p:extLst>
              </p:nvPr>
            </p:nvGraphicFramePr>
            <p:xfrm>
              <a:off x="4079239" y="3649738"/>
              <a:ext cx="1344507" cy="756285"/>
            </p:xfrm>
            <a:graphic>
              <a:graphicData uri="http://schemas.microsoft.com/office/powerpoint/2016/slidezoom">
                <pslz:sldZm>
                  <pslz:sldZmObj sldId="260" cId="47017800">
                    <pslz:zmPr id="{F70C6642-F3F5-4820-8D42-639E051C6FA2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4507" cy="75628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A8E9B9B9-1032-3BD6-9834-D32A14CAEA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79239" y="3649738"/>
                <a:ext cx="1344507" cy="75628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9C362C5E-3F93-6A11-6CA5-BC9FE00516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8725316"/>
                  </p:ext>
                </p:extLst>
              </p:nvPr>
            </p:nvGraphicFramePr>
            <p:xfrm>
              <a:off x="5367442" y="2436652"/>
              <a:ext cx="1388535" cy="781051"/>
            </p:xfrm>
            <a:graphic>
              <a:graphicData uri="http://schemas.microsoft.com/office/powerpoint/2016/slidezoom">
                <pslz:sldZm>
                  <pslz:sldZmObj sldId="261" cId="2973951679">
                    <pslz:zmPr id="{8583AB9E-281D-42E8-9558-BF8445D7A53E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8535" cy="7810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9C362C5E-3F93-6A11-6CA5-BC9FE00516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67442" y="2436652"/>
                <a:ext cx="1388535" cy="7810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EB587022-EE73-1DCB-59B6-66899D0A80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2242135"/>
                  </p:ext>
                </p:extLst>
              </p:nvPr>
            </p:nvGraphicFramePr>
            <p:xfrm>
              <a:off x="6650566" y="3645114"/>
              <a:ext cx="1344507" cy="756285"/>
            </p:xfrm>
            <a:graphic>
              <a:graphicData uri="http://schemas.microsoft.com/office/powerpoint/2016/slidezoom">
                <pslz:sldZm>
                  <pslz:sldZmObj sldId="256" cId="3565427502">
                    <pslz:zmPr id="{4161A470-D412-412A-B507-66BBFDE9B4F2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4507" cy="75628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EB587022-EE73-1DCB-59B6-66899D0A80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50566" y="3645114"/>
                <a:ext cx="1344507" cy="75628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A723EE32-C5F7-D6CC-E538-685AFB76EA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6908063"/>
                  </p:ext>
                </p:extLst>
              </p:nvPr>
            </p:nvGraphicFramePr>
            <p:xfrm>
              <a:off x="7923230" y="2447075"/>
              <a:ext cx="1388535" cy="781051"/>
            </p:xfrm>
            <a:graphic>
              <a:graphicData uri="http://schemas.microsoft.com/office/powerpoint/2016/slidezoom">
                <pslz:sldZm>
                  <pslz:sldZmObj sldId="262" cId="3180706066">
                    <pslz:zmPr id="{47FCED9D-A070-4CE9-9355-8155CD56659A}" returnToParent="0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8535" cy="7810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A723EE32-C5F7-D6CC-E538-685AFB76EA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23230" y="2447075"/>
                <a:ext cx="1388535" cy="7810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5" name="Slide Zoom 24">
                <a:extLst>
                  <a:ext uri="{FF2B5EF4-FFF2-40B4-BE49-F238E27FC236}">
                    <a16:creationId xmlns:a16="http://schemas.microsoft.com/office/drawing/2014/main" id="{49A104C5-695D-397C-0332-5267E58DF8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9056949"/>
                  </p:ext>
                </p:extLst>
              </p:nvPr>
            </p:nvGraphicFramePr>
            <p:xfrm>
              <a:off x="9221894" y="3649738"/>
              <a:ext cx="1344507" cy="756285"/>
            </p:xfrm>
            <a:graphic>
              <a:graphicData uri="http://schemas.microsoft.com/office/powerpoint/2016/slidezoom">
                <pslz:sldZm>
                  <pslz:sldZmObj sldId="264" cId="1649754288">
                    <pslz:zmPr id="{36A43AF7-3E22-46CF-99A6-5584DD47E5A8}" returnToParent="0" transitionDur="1000">
                      <p166:blipFill xmlns:p166="http://schemas.microsoft.com/office/powerpoint/2016/6/main">
                        <a:blip r:embed="rId2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4507" cy="75628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5" name="Slide Zoom 24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49A104C5-695D-397C-0332-5267E58DF8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21894" y="3649738"/>
                <a:ext cx="1344507" cy="75628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2956E03A-E93D-22A9-A3DA-6869B4F34C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6249115"/>
                  </p:ext>
                </p:extLst>
              </p:nvPr>
            </p:nvGraphicFramePr>
            <p:xfrm>
              <a:off x="10254825" y="2421521"/>
              <a:ext cx="1388535" cy="781051"/>
            </p:xfrm>
            <a:graphic>
              <a:graphicData uri="http://schemas.microsoft.com/office/powerpoint/2016/slidezoom">
                <pslz:sldZm>
                  <pslz:sldZmObj sldId="267" cId="485729379">
                    <pslz:zmPr id="{D5051BBC-1182-4F92-9A75-E9295D1BB0FB}" returnToParent="0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8535" cy="7810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2956E03A-E93D-22A9-A3DA-6869B4F34C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54825" y="2421521"/>
                <a:ext cx="1388535" cy="7810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27D633-9343-23F8-4B5A-C2AC3AED6CF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174326" y="3287459"/>
            <a:ext cx="0" cy="156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C09FBDA-FE35-A40A-AD71-8FD0BDB1B5B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297852" y="3453707"/>
            <a:ext cx="1" cy="196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7136A9-99DB-7B36-FEC6-7B60B36A0B33}"/>
              </a:ext>
            </a:extLst>
          </p:cNvPr>
          <p:cNvCxnSpPr>
            <a:cxnSpLocks/>
          </p:cNvCxnSpPr>
          <p:nvPr/>
        </p:nvCxnSpPr>
        <p:spPr>
          <a:xfrm flipV="1">
            <a:off x="3505919" y="3202572"/>
            <a:ext cx="0" cy="241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1AF4C6F-5ADA-BE6C-D4D6-02C7A43EA77C}"/>
              </a:ext>
            </a:extLst>
          </p:cNvPr>
          <p:cNvCxnSpPr>
            <a:cxnSpLocks/>
          </p:cNvCxnSpPr>
          <p:nvPr/>
        </p:nvCxnSpPr>
        <p:spPr>
          <a:xfrm flipH="1" flipV="1">
            <a:off x="4761231" y="3453707"/>
            <a:ext cx="1" cy="196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42E5802-A79C-F748-CD4D-A44B4FF6AC3B}"/>
              </a:ext>
            </a:extLst>
          </p:cNvPr>
          <p:cNvCxnSpPr>
            <a:cxnSpLocks/>
          </p:cNvCxnSpPr>
          <p:nvPr/>
        </p:nvCxnSpPr>
        <p:spPr>
          <a:xfrm flipV="1">
            <a:off x="6020519" y="3212039"/>
            <a:ext cx="0" cy="241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AEB2F30-01C6-80BC-76F2-01069030050F}"/>
              </a:ext>
            </a:extLst>
          </p:cNvPr>
          <p:cNvCxnSpPr>
            <a:cxnSpLocks/>
          </p:cNvCxnSpPr>
          <p:nvPr/>
        </p:nvCxnSpPr>
        <p:spPr>
          <a:xfrm flipV="1">
            <a:off x="7323538" y="3436620"/>
            <a:ext cx="0" cy="218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0F78242-5A45-B096-EAB0-29923BA01F59}"/>
              </a:ext>
            </a:extLst>
          </p:cNvPr>
          <p:cNvCxnSpPr>
            <a:cxnSpLocks/>
          </p:cNvCxnSpPr>
          <p:nvPr/>
        </p:nvCxnSpPr>
        <p:spPr>
          <a:xfrm flipV="1">
            <a:off x="8617497" y="3187332"/>
            <a:ext cx="0" cy="241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6A96A09-A880-52A6-2572-7F790FD25DD8}"/>
              </a:ext>
            </a:extLst>
          </p:cNvPr>
          <p:cNvCxnSpPr>
            <a:cxnSpLocks/>
          </p:cNvCxnSpPr>
          <p:nvPr/>
        </p:nvCxnSpPr>
        <p:spPr>
          <a:xfrm flipV="1">
            <a:off x="9894147" y="3415987"/>
            <a:ext cx="0" cy="241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52F9FD5-5390-127E-A6AD-B1E47509A9FE}"/>
              </a:ext>
            </a:extLst>
          </p:cNvPr>
          <p:cNvCxnSpPr>
            <a:cxnSpLocks/>
          </p:cNvCxnSpPr>
          <p:nvPr/>
        </p:nvCxnSpPr>
        <p:spPr>
          <a:xfrm flipV="1">
            <a:off x="10945829" y="3187332"/>
            <a:ext cx="0" cy="241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18853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0048-A604-D1C7-A42F-0F981869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249378"/>
            <a:ext cx="7205703" cy="132477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A599-8239-2656-C316-E7CFDCCBA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752" y="1466809"/>
            <a:ext cx="10344912" cy="2170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Goal of the Project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→ To predict the winner of an IPL match using only pre-match details.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Dataset Used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→ IPL matches from 2008 to 2024 with team, venue, toss, and outcome data.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This is Useful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→ Helps understand game dynamics and improves decision-making in cricket.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59348-53E2-C184-7F2A-C3CB794A7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957245"/>
            <a:ext cx="10838688" cy="234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0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E5A7-C8D2-AB8A-3ACE-023AC57CD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41408" cy="304812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 Inspection</a:t>
            </a:r>
            <a:b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→ Loaded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matches.csv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examined rows, columns, and data types.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Column Review</a:t>
            </a:r>
            <a:b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→ Focused on relevant fields like team1, team2, </a:t>
            </a:r>
            <a:r>
              <a:rPr lang="en-US" altLang="en-US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toss_winner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, venue, and winner.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Initial Observations</a:t>
            </a:r>
            <a:b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→ Found that the data contains match-level info; no player-level stats.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5EF738-F334-6FDB-6DEB-5880E02C8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35522"/>
            <a:ext cx="68066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gerian" panose="04020705040A02060702" pitchFamily="82" charset="0"/>
              </a:rPr>
              <a:t>Data Understanding &amp; Loading</a:t>
            </a:r>
          </a:p>
        </p:txBody>
      </p:sp>
    </p:spTree>
    <p:extLst>
      <p:ext uri="{BB962C8B-B14F-4D97-AF65-F5344CB8AC3E}">
        <p14:creationId xmlns:p14="http://schemas.microsoft.com/office/powerpoint/2010/main" val="320158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B6C3-A50D-74CB-6E86-E5656106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7" y="179070"/>
            <a:ext cx="4961097" cy="65900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Data Preprocessing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06A-4399-A162-1AB3-F869FA9B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6" y="809143"/>
            <a:ext cx="4961097" cy="199656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Cleaning the Data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→ </a:t>
            </a:r>
            <a:r>
              <a:rPr lang="en-US" dirty="0">
                <a:solidFill>
                  <a:schemeClr val="bg1"/>
                </a:solidFill>
              </a:rPr>
              <a:t>Removed missing values and irrelevant columns like umpire, id, result.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Encoding the Data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→ </a:t>
            </a:r>
            <a:r>
              <a:rPr lang="en-US" dirty="0">
                <a:solidFill>
                  <a:schemeClr val="bg1"/>
                </a:solidFill>
              </a:rPr>
              <a:t>Applied label encoding to convert all categorical features to numbers.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Feature Selection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→ </a:t>
            </a:r>
            <a:r>
              <a:rPr lang="en-US" dirty="0">
                <a:solidFill>
                  <a:schemeClr val="bg1"/>
                </a:solidFill>
              </a:rPr>
              <a:t>Kept only relevant columns that are known before the match starts.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25269-B6E8-AF2A-AC2C-A95385B2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11" t="3566" r="6033" b="10263"/>
          <a:stretch>
            <a:fillRect/>
          </a:stretch>
        </p:blipFill>
        <p:spPr>
          <a:xfrm>
            <a:off x="490726" y="2933281"/>
            <a:ext cx="3858767" cy="991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778BDD-2015-4FCE-ABFA-28C8A28BD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158" y="2567103"/>
            <a:ext cx="4343502" cy="1986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DD37F6-A4F6-A646-FC5A-1F11DBB8E1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682"/>
          <a:stretch>
            <a:fillRect/>
          </a:stretch>
        </p:blipFill>
        <p:spPr>
          <a:xfrm>
            <a:off x="5451823" y="809143"/>
            <a:ext cx="3635837" cy="11278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1C457A-6B23-FBB3-E0B2-16CAB7524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920971"/>
            <a:ext cx="3188782" cy="1657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DB50D0-2C12-83CF-DEFE-BBC9D89D7A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377"/>
          <a:stretch>
            <a:fillRect/>
          </a:stretch>
        </p:blipFill>
        <p:spPr>
          <a:xfrm>
            <a:off x="9490887" y="133003"/>
            <a:ext cx="2243779" cy="272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4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B1B2-9E22-1EFC-6D75-CDFD44A8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0C50FC-88CA-AA1E-661B-F09520A99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936" y="314265"/>
            <a:ext cx="5188350" cy="268517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Exploratory Data Analysis (EDA)</a:t>
            </a:r>
          </a:p>
          <a:p>
            <a:endParaRPr lang="en-IN" b="1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IN" sz="2100" b="1" dirty="0">
                <a:solidFill>
                  <a:schemeClr val="bg1"/>
                </a:solidFill>
              </a:rPr>
              <a:t>Descriptive Statistics</a:t>
            </a:r>
            <a:br>
              <a:rPr lang="en-IN" sz="2100" dirty="0">
                <a:solidFill>
                  <a:schemeClr val="bg1"/>
                </a:solidFill>
              </a:rPr>
            </a:br>
            <a:r>
              <a:rPr lang="en-IN" sz="2100" dirty="0">
                <a:solidFill>
                  <a:schemeClr val="bg1"/>
                </a:solidFill>
              </a:rPr>
              <a:t>→ Calculated mean, median, mode, standard deviation, and range.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bg1"/>
                </a:solidFill>
              </a:rPr>
              <a:t>Categorical Analysis</a:t>
            </a:r>
            <a:br>
              <a:rPr lang="en-IN" sz="2100" dirty="0">
                <a:solidFill>
                  <a:schemeClr val="bg1"/>
                </a:solidFill>
              </a:rPr>
            </a:br>
            <a:r>
              <a:rPr lang="en-IN" sz="2100" dirty="0">
                <a:solidFill>
                  <a:schemeClr val="bg1"/>
                </a:solidFill>
              </a:rPr>
              <a:t>→ Summarized win counts per team, toss decisions, and match types.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bg1"/>
                </a:solidFill>
              </a:rPr>
              <a:t>Visual Insights</a:t>
            </a:r>
            <a:br>
              <a:rPr lang="en-IN" sz="2100" dirty="0">
                <a:solidFill>
                  <a:schemeClr val="bg1"/>
                </a:solidFill>
              </a:rPr>
            </a:br>
            <a:r>
              <a:rPr lang="en-IN" sz="2100" dirty="0">
                <a:solidFill>
                  <a:schemeClr val="bg1"/>
                </a:solidFill>
              </a:rPr>
              <a:t>→ Created bar plots and histograms to identify trends and patterns.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D0DFF8-D562-C415-9D89-67BC143B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417" y="197195"/>
            <a:ext cx="2345318" cy="20151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3F69D1-848C-8AA3-021B-6F6CC1E73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350" y="2426340"/>
            <a:ext cx="3734336" cy="17282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9CE2C9-8F8D-E398-26B6-ED43048CB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721" y="2260979"/>
            <a:ext cx="2740535" cy="24380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D8C50C1-EC19-84E4-37A2-459651FD5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495" y="197195"/>
            <a:ext cx="1809953" cy="18843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1897483-449F-C773-BF5C-9403C4BCDF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20"/>
          <a:stretch>
            <a:fillRect/>
          </a:stretch>
        </p:blipFill>
        <p:spPr>
          <a:xfrm>
            <a:off x="188498" y="2931249"/>
            <a:ext cx="3513344" cy="6429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E792008-35E0-5C5D-00C0-B52C1A1C35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5859" y="3852580"/>
            <a:ext cx="1389195" cy="240529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B030F06-44FB-3E84-1482-1246539492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293" y="2931249"/>
            <a:ext cx="1316924" cy="298375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EBE9A99-FDC4-3F34-1E8F-927D740897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096"/>
          <a:stretch>
            <a:fillRect/>
          </a:stretch>
        </p:blipFill>
        <p:spPr>
          <a:xfrm>
            <a:off x="5912226" y="4878487"/>
            <a:ext cx="5919358" cy="16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96020-2738-DABB-B852-C30181C6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5BA65E-A13B-6140-8ED8-FE426AA45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46" y="1181996"/>
            <a:ext cx="6131105" cy="2521324"/>
          </a:xfrm>
        </p:spPr>
        <p:txBody>
          <a:bodyPr>
            <a:noAutofit/>
          </a:bodyPr>
          <a:lstStyle/>
          <a:p>
            <a:pPr algn="l"/>
            <a:r>
              <a:rPr lang="en-IN" sz="2000" b="1" dirty="0" err="1">
                <a:solidFill>
                  <a:schemeClr val="bg1"/>
                </a:solidFill>
              </a:rPr>
              <a:t>KMeans</a:t>
            </a:r>
            <a:r>
              <a:rPr lang="en-IN" sz="2000" b="1" dirty="0">
                <a:solidFill>
                  <a:schemeClr val="bg1"/>
                </a:solidFill>
              </a:rPr>
              <a:t> Clustering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→ Used unsupervised learning to find hidden groupings in match data.</a:t>
            </a:r>
          </a:p>
          <a:p>
            <a:pPr algn="l"/>
            <a:r>
              <a:rPr lang="en-IN" sz="2000" b="1" dirty="0">
                <a:solidFill>
                  <a:schemeClr val="bg1"/>
                </a:solidFill>
              </a:rPr>
              <a:t>PCA Visualization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→ Reduced dimensions for visualizing clusters in 2D.</a:t>
            </a:r>
          </a:p>
          <a:p>
            <a:pPr algn="l"/>
            <a:r>
              <a:rPr lang="en-IN" sz="2000" b="1" dirty="0">
                <a:solidFill>
                  <a:schemeClr val="bg1"/>
                </a:solidFill>
              </a:rPr>
              <a:t>Insight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→ Found subtle clusters based on venue, toss decision, and match type.</a:t>
            </a:r>
          </a:p>
          <a:p>
            <a:pPr algn="l"/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A6004E9-EE6E-CB51-B00F-9609150C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99" y="3429000"/>
            <a:ext cx="4104018" cy="2893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39D2C8-2F94-A31E-6435-3F1110E02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276" y="1277897"/>
            <a:ext cx="5001323" cy="1600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AA5FBB-C17C-BA4A-C02A-ACCAB2198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33" y="4181355"/>
            <a:ext cx="5263065" cy="16908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25896-A45B-E7F8-FA90-C00007A29AA6}"/>
              </a:ext>
            </a:extLst>
          </p:cNvPr>
          <p:cNvSpPr txBox="1"/>
          <p:nvPr/>
        </p:nvSpPr>
        <p:spPr>
          <a:xfrm>
            <a:off x="342847" y="224053"/>
            <a:ext cx="66303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chemeClr val="bg1"/>
                </a:solidFill>
                <a:latin typeface="Algerian" panose="04020705040A02060702" pitchFamily="82" charset="0"/>
              </a:rPr>
              <a:t>Clustering &amp; Pattern Detection</a:t>
            </a:r>
          </a:p>
        </p:txBody>
      </p:sp>
    </p:spTree>
    <p:extLst>
      <p:ext uri="{BB962C8B-B14F-4D97-AF65-F5344CB8AC3E}">
        <p14:creationId xmlns:p14="http://schemas.microsoft.com/office/powerpoint/2010/main" val="297395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01D9FE-92D5-5161-592B-D9C974FD5C09}"/>
              </a:ext>
            </a:extLst>
          </p:cNvPr>
          <p:cNvSpPr txBox="1"/>
          <p:nvPr/>
        </p:nvSpPr>
        <p:spPr>
          <a:xfrm>
            <a:off x="349866" y="704775"/>
            <a:ext cx="501766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</a:rPr>
              <a:t>Model Training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→ Used Decision Tree Classifier as a simple and interpretable baseline.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Evaluation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→ Accuracy was moderate – 0.524038;  good start but not strong generalization.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Conclusion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→ Needed more complex models for better accuracy.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Visualization: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3BA8D-116F-FE6E-9A62-1786C246B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38048"/>
            <a:ext cx="6632605" cy="789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303F6-5EFE-CB36-1D8A-D88222CA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441" y="1028984"/>
            <a:ext cx="5594692" cy="12570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BA662A-0EF7-8D86-46E1-0CD783B58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809" y="2487535"/>
            <a:ext cx="4584324" cy="2650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BE99F4-9ED5-A07C-6AF3-7CC7A3296C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91"/>
          <a:stretch>
            <a:fillRect/>
          </a:stretch>
        </p:blipFill>
        <p:spPr>
          <a:xfrm>
            <a:off x="3147309" y="2587386"/>
            <a:ext cx="4015461" cy="21946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8A1EB-4B9E-FBAD-9690-EB73C310B0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98" r="4883"/>
          <a:stretch>
            <a:fillRect/>
          </a:stretch>
        </p:blipFill>
        <p:spPr>
          <a:xfrm>
            <a:off x="238014" y="2587386"/>
            <a:ext cx="2722518" cy="19180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E4F0DE-0A10-8288-6FE1-7F12FF0B7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014" y="4695282"/>
            <a:ext cx="2100749" cy="1826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B0DFDD-1964-6ABB-0311-A92DB67E5954}"/>
              </a:ext>
            </a:extLst>
          </p:cNvPr>
          <p:cNvSpPr txBox="1"/>
          <p:nvPr/>
        </p:nvSpPr>
        <p:spPr>
          <a:xfrm>
            <a:off x="349866" y="247531"/>
            <a:ext cx="3243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lgerian" panose="04020705040A02060702" pitchFamily="82" charset="0"/>
              </a:rPr>
              <a:t>Model 1 – Decision Tree</a:t>
            </a:r>
          </a:p>
        </p:txBody>
      </p:sp>
    </p:spTree>
    <p:extLst>
      <p:ext uri="{BB962C8B-B14F-4D97-AF65-F5344CB8AC3E}">
        <p14:creationId xmlns:p14="http://schemas.microsoft.com/office/powerpoint/2010/main" val="3565427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AFA5-10F9-3241-A19E-31D1B4E6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0C3BB7-3907-726C-F7B7-45D96BFADF69}"/>
              </a:ext>
            </a:extLst>
          </p:cNvPr>
          <p:cNvSpPr txBox="1"/>
          <p:nvPr/>
        </p:nvSpPr>
        <p:spPr>
          <a:xfrm>
            <a:off x="304037" y="947618"/>
            <a:ext cx="4806539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1"/>
                </a:solidFill>
              </a:rPr>
              <a:t>Model Improvement</a:t>
            </a: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→ Used Random Forest to overcome limitations of single tree.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b="1" dirty="0">
                <a:solidFill>
                  <a:schemeClr val="bg1"/>
                </a:solidFill>
              </a:rPr>
              <a:t>Performance</a:t>
            </a: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→ Accuracy improved – 0.7019230, more balanced predictions across classes.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b="1" dirty="0">
                <a:solidFill>
                  <a:schemeClr val="bg1"/>
                </a:solidFill>
              </a:rPr>
              <a:t>Interpretability</a:t>
            </a: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→ Feature importance showed venue and </a:t>
            </a:r>
            <a:r>
              <a:rPr lang="en-IN" sz="1500" dirty="0" err="1">
                <a:solidFill>
                  <a:schemeClr val="bg1"/>
                </a:solidFill>
              </a:rPr>
              <a:t>toss_winner</a:t>
            </a:r>
            <a:r>
              <a:rPr lang="en-IN" sz="1500" dirty="0">
                <a:solidFill>
                  <a:schemeClr val="bg1"/>
                </a:solidFill>
              </a:rPr>
              <a:t> as impactful.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47F5A4-4873-E652-230C-593726D3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211" y="163540"/>
            <a:ext cx="6777385" cy="32014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A96E58-C720-84C2-DF6C-6989D0D4F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211" y="3719986"/>
            <a:ext cx="2552745" cy="2523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896838-0547-326E-6509-04D225486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269" y="3744197"/>
            <a:ext cx="3442327" cy="2499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B14494-5594-44B3-7DD9-3F46C8342D67}"/>
              </a:ext>
            </a:extLst>
          </p:cNvPr>
          <p:cNvSpPr txBox="1"/>
          <p:nvPr/>
        </p:nvSpPr>
        <p:spPr>
          <a:xfrm>
            <a:off x="304038" y="429768"/>
            <a:ext cx="3462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lgerian" panose="04020705040A02060702" pitchFamily="82" charset="0"/>
              </a:rPr>
              <a:t>Model 2 –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18070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5E919F-3A22-9C67-93B5-9562FA9A6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52" y="202379"/>
            <a:ext cx="6892403" cy="3610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B84AD-8101-B6E9-46AF-E126C1488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39846"/>
            <a:ext cx="3610767" cy="3639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47CBF5-F3B7-D662-DA2A-1861A2124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52" y="4043041"/>
            <a:ext cx="4713087" cy="2336693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72E6F2E0-A77D-D3C0-3DD2-A01DB47888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946" y="813181"/>
            <a:ext cx="49629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classifier, achieved ~80% accuracy on test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Captured complex non-linear interactions better than previous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Though performance was good, this was not finalized as the best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44B9D-64A9-32C7-3C0C-E75864875DF7}"/>
              </a:ext>
            </a:extLst>
          </p:cNvPr>
          <p:cNvSpPr txBox="1"/>
          <p:nvPr/>
        </p:nvSpPr>
        <p:spPr>
          <a:xfrm>
            <a:off x="239945" y="413071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Model 3</a:t>
            </a:r>
          </a:p>
        </p:txBody>
      </p:sp>
    </p:spTree>
    <p:extLst>
      <p:ext uri="{BB962C8B-B14F-4D97-AF65-F5344CB8AC3E}">
        <p14:creationId xmlns:p14="http://schemas.microsoft.com/office/powerpoint/2010/main" val="1649754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F9D0-A925-2089-9A2E-5BBE85CC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16" y="432912"/>
            <a:ext cx="2746248" cy="594994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lgerian" panose="04020705040A02060702" pitchFamily="82" charset="0"/>
              </a:rPr>
              <a:t>Model 4: </a:t>
            </a:r>
            <a:r>
              <a:rPr lang="en-IN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LightGBM</a:t>
            </a:r>
            <a:endParaRPr lang="en-IN" sz="2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D9E7-3B37-06C2-2284-7CF928190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1079254"/>
            <a:ext cx="5114544" cy="2051431"/>
          </a:xfrm>
        </p:spPr>
        <p:txBody>
          <a:bodyPr>
            <a:norm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LightGBM</a:t>
            </a:r>
            <a:r>
              <a:rPr lang="en-US" sz="1600" dirty="0">
                <a:solidFill>
                  <a:schemeClr val="bg1"/>
                </a:solidFill>
              </a:rPr>
              <a:t> outperformed all previous models, achieving ~90% accuracy.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Provided faster training and better generalization across match types.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Chosen as the final model for its superior accuracy and stability.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5ED15-A5B1-CB04-C851-375F9F48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42" y="163648"/>
            <a:ext cx="5413721" cy="1449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654A81-87A5-6999-2FDA-61B105A22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82736"/>
            <a:ext cx="6373114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CA65B9-46B4-0D3E-75F7-3212CE443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21" y="3265357"/>
            <a:ext cx="3067269" cy="30136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622F1C-5E56-5A6B-9D67-8718C3054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635876"/>
            <a:ext cx="3262702" cy="165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2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F5F363-4A76-B3E9-84E7-11444A9642C4}"/>
              </a:ext>
            </a:extLst>
          </p:cNvPr>
          <p:cNvSpPr/>
          <p:nvPr/>
        </p:nvSpPr>
        <p:spPr>
          <a:xfrm rot="2847479">
            <a:off x="8598607" y="-1822112"/>
            <a:ext cx="2681279" cy="7971961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EE8516-8F26-703C-ED70-2083BD9DE6E2}"/>
              </a:ext>
            </a:extLst>
          </p:cNvPr>
          <p:cNvSpPr/>
          <p:nvPr/>
        </p:nvSpPr>
        <p:spPr>
          <a:xfrm rot="2847479">
            <a:off x="12052622" y="-342769"/>
            <a:ext cx="2681279" cy="7090682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9A2B6-A1BC-824E-12D4-9E9E14A00DEC}"/>
              </a:ext>
            </a:extLst>
          </p:cNvPr>
          <p:cNvSpPr/>
          <p:nvPr/>
        </p:nvSpPr>
        <p:spPr>
          <a:xfrm rot="2847479">
            <a:off x="7393379" y="-4314004"/>
            <a:ext cx="2681279" cy="6926159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3D182-307D-C1CE-584B-EC1C6E6B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58" y="260953"/>
            <a:ext cx="5863542" cy="63029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Conclusion &amp; Recommendation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D876FD-4BA6-5C06-785C-5877A874B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58" y="856357"/>
            <a:ext cx="1314787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Best Model Selected –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Classifier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Achieved the highest accuracy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0.90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on test data.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Outperformed all other models in predicting match winners with better speed and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Compared with Decision Tree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Decision Tree gave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0.52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accuracy.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Simpler but less effective; prone to overfitting and bias toward dominant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Compared with Random Forest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Random Forest improved performance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0.70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accuracy.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More stable than Decision Tree, but still not as accurate or fast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Compared with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XGBoost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reached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0.86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accuracy.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Powerful and accurate, but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was faster and performed better with large categorical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Why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Better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Captures complex relationships using gradient boosting with optimized speed.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Handles categorical features efficiently and gives excellent feature importance insights (toss winner, team, venue).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leaf-wise tree growth, which improves accuracy on classification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Final Recommendation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 match outcome prediction using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pre-match information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Classifier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the most reliable.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0731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1D700C-DAA8-1955-EE91-88FDB63912D8}"/>
              </a:ext>
            </a:extLst>
          </p:cNvPr>
          <p:cNvSpPr/>
          <p:nvPr/>
        </p:nvSpPr>
        <p:spPr>
          <a:xfrm rot="2994363">
            <a:off x="8598607" y="-1822112"/>
            <a:ext cx="2681279" cy="7971961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3B6533-4462-5909-6971-D1CB8A39C2C4}"/>
              </a:ext>
            </a:extLst>
          </p:cNvPr>
          <p:cNvSpPr/>
          <p:nvPr/>
        </p:nvSpPr>
        <p:spPr>
          <a:xfrm rot="2994363">
            <a:off x="12052622" y="-342769"/>
            <a:ext cx="2681279" cy="7090682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23E675-4104-6BB5-44A5-8E69D7878A30}"/>
              </a:ext>
            </a:extLst>
          </p:cNvPr>
          <p:cNvSpPr/>
          <p:nvPr/>
        </p:nvSpPr>
        <p:spPr>
          <a:xfrm rot="2994363">
            <a:off x="7393379" y="-4314004"/>
            <a:ext cx="2681279" cy="6926159"/>
          </a:xfrm>
          <a:prstGeom prst="roundRect">
            <a:avLst>
              <a:gd name="adj" fmla="val 219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14148-68C7-A174-3B5D-2103DFCC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218821"/>
            <a:ext cx="3907536" cy="243513"/>
          </a:xfrm>
        </p:spPr>
        <p:txBody>
          <a:bodyPr>
            <a:no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lgerian" panose="04020705040A02060702" pitchFamily="82" charset="0"/>
              </a:rPr>
              <a:t>Entire Project Workflow – Step-by-Step Process</a:t>
            </a:r>
            <a:endParaRPr lang="en-IN" sz="105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EE4047-9831-0135-4677-B9F71C5B762F}"/>
              </a:ext>
            </a:extLst>
          </p:cNvPr>
          <p:cNvSpPr txBox="1"/>
          <p:nvPr/>
        </p:nvSpPr>
        <p:spPr>
          <a:xfrm>
            <a:off x="243840" y="534606"/>
            <a:ext cx="516636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1. Loaded the Dataset</a:t>
            </a:r>
          </a:p>
          <a:p>
            <a:r>
              <a:rPr lang="en-IN" sz="1200" dirty="0">
                <a:solidFill>
                  <a:schemeClr val="bg1"/>
                </a:solidFill>
              </a:rPr>
              <a:t>Used matches.csv from IPL (2008–2024).</a:t>
            </a:r>
          </a:p>
          <a:p>
            <a:r>
              <a:rPr lang="en-IN" sz="1200" dirty="0">
                <a:solidFill>
                  <a:schemeClr val="bg1"/>
                </a:solidFill>
              </a:rPr>
              <a:t>Checked rows, columns, and data types.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2. Explored the Data</a:t>
            </a:r>
          </a:p>
          <a:p>
            <a:r>
              <a:rPr lang="en-IN" sz="1200" dirty="0">
                <a:solidFill>
                  <a:schemeClr val="bg1"/>
                </a:solidFill>
              </a:rPr>
              <a:t>Described the dataset using .info(), .describe().</a:t>
            </a:r>
          </a:p>
          <a:p>
            <a:r>
              <a:rPr lang="en-IN" sz="1200" dirty="0">
                <a:solidFill>
                  <a:schemeClr val="bg1"/>
                </a:solidFill>
              </a:rPr>
              <a:t>Found the target variable: winner.</a:t>
            </a:r>
          </a:p>
          <a:p>
            <a:r>
              <a:rPr lang="en-IN" sz="1200" dirty="0">
                <a:solidFill>
                  <a:schemeClr val="bg1"/>
                </a:solidFill>
              </a:rPr>
              <a:t>Identified and removed irrelevant columns.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3. Selected Independent Features</a:t>
            </a:r>
          </a:p>
          <a:p>
            <a:r>
              <a:rPr lang="en-IN" sz="1200" dirty="0">
                <a:solidFill>
                  <a:schemeClr val="bg1"/>
                </a:solidFill>
              </a:rPr>
              <a:t>Chose 7 features: team1, team2, venue, city, </a:t>
            </a:r>
            <a:r>
              <a:rPr lang="en-IN" sz="1200" dirty="0" err="1">
                <a:solidFill>
                  <a:schemeClr val="bg1"/>
                </a:solidFill>
              </a:rPr>
              <a:t>toss_winner</a:t>
            </a:r>
            <a:r>
              <a:rPr lang="en-IN" sz="1200" dirty="0">
                <a:solidFill>
                  <a:schemeClr val="bg1"/>
                </a:solidFill>
              </a:rPr>
              <a:t>, </a:t>
            </a:r>
            <a:r>
              <a:rPr lang="en-IN" sz="1200" dirty="0" err="1">
                <a:solidFill>
                  <a:schemeClr val="bg1"/>
                </a:solidFill>
              </a:rPr>
              <a:t>toss_decision</a:t>
            </a:r>
            <a:r>
              <a:rPr lang="en-IN" sz="1200" dirty="0">
                <a:solidFill>
                  <a:schemeClr val="bg1"/>
                </a:solidFill>
              </a:rPr>
              <a:t>, season.</a:t>
            </a:r>
          </a:p>
          <a:p>
            <a:r>
              <a:rPr lang="en-IN" sz="1200" dirty="0">
                <a:solidFill>
                  <a:schemeClr val="bg1"/>
                </a:solidFill>
              </a:rPr>
              <a:t>These features were known before a match started.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4. Encoded Categorical Data</a:t>
            </a:r>
          </a:p>
          <a:p>
            <a:r>
              <a:rPr lang="en-IN" sz="1200" dirty="0">
                <a:solidFill>
                  <a:schemeClr val="bg1"/>
                </a:solidFill>
              </a:rPr>
              <a:t>Used Label Encoding to convert team names, venues, etc. into numbers.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5. Performed Descriptive Analysis</a:t>
            </a:r>
          </a:p>
          <a:p>
            <a:r>
              <a:rPr lang="en-IN" sz="1200" dirty="0">
                <a:solidFill>
                  <a:schemeClr val="bg1"/>
                </a:solidFill>
              </a:rPr>
              <a:t>Calculated mean, median, standard deviation, min, max, and quartiles.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6. Visualized Data (EDA)</a:t>
            </a:r>
          </a:p>
          <a:p>
            <a:r>
              <a:rPr lang="en-IN" sz="1200" dirty="0">
                <a:solidFill>
                  <a:schemeClr val="bg1"/>
                </a:solidFill>
              </a:rPr>
              <a:t>Plotted:</a:t>
            </a:r>
          </a:p>
          <a:p>
            <a:r>
              <a:rPr lang="en-IN" sz="1200" dirty="0">
                <a:solidFill>
                  <a:schemeClr val="bg1"/>
                </a:solidFill>
              </a:rPr>
              <a:t>• Count plot for team wins</a:t>
            </a:r>
          </a:p>
          <a:p>
            <a:r>
              <a:rPr lang="en-IN" sz="1200" dirty="0">
                <a:solidFill>
                  <a:schemeClr val="bg1"/>
                </a:solidFill>
              </a:rPr>
              <a:t>• Histogram for matches per season</a:t>
            </a:r>
          </a:p>
          <a:p>
            <a:r>
              <a:rPr lang="en-IN" sz="1200" dirty="0">
                <a:solidFill>
                  <a:schemeClr val="bg1"/>
                </a:solidFill>
              </a:rPr>
              <a:t>• Box plot for match venues</a:t>
            </a:r>
          </a:p>
          <a:p>
            <a:r>
              <a:rPr lang="en-IN" sz="1200" dirty="0">
                <a:solidFill>
                  <a:schemeClr val="bg1"/>
                </a:solidFill>
              </a:rPr>
              <a:t>• Correlation heatmap and </a:t>
            </a:r>
            <a:r>
              <a:rPr lang="en-IN" sz="1200" dirty="0" err="1">
                <a:solidFill>
                  <a:schemeClr val="bg1"/>
                </a:solidFill>
              </a:rPr>
              <a:t>pairplot</a:t>
            </a:r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7. Detected Patterns using Clustering</a:t>
            </a:r>
          </a:p>
          <a:p>
            <a:r>
              <a:rPr lang="en-IN" sz="1200" dirty="0">
                <a:solidFill>
                  <a:schemeClr val="bg1"/>
                </a:solidFill>
              </a:rPr>
              <a:t>Applied </a:t>
            </a:r>
            <a:r>
              <a:rPr lang="en-IN" sz="1200" dirty="0" err="1">
                <a:solidFill>
                  <a:schemeClr val="bg1"/>
                </a:solidFill>
              </a:rPr>
              <a:t>StandardScaler</a:t>
            </a:r>
            <a:r>
              <a:rPr lang="en-IN" sz="1200" dirty="0">
                <a:solidFill>
                  <a:schemeClr val="bg1"/>
                </a:solidFill>
              </a:rPr>
              <a:t> for normalization.</a:t>
            </a:r>
          </a:p>
          <a:p>
            <a:r>
              <a:rPr lang="en-IN" sz="1200" dirty="0">
                <a:solidFill>
                  <a:schemeClr val="bg1"/>
                </a:solidFill>
              </a:rPr>
              <a:t>Performed </a:t>
            </a:r>
            <a:r>
              <a:rPr lang="en-IN" sz="1200" dirty="0" err="1">
                <a:solidFill>
                  <a:schemeClr val="bg1"/>
                </a:solidFill>
              </a:rPr>
              <a:t>KMeans</a:t>
            </a:r>
            <a:r>
              <a:rPr lang="en-IN" sz="1200" dirty="0">
                <a:solidFill>
                  <a:schemeClr val="bg1"/>
                </a:solidFill>
              </a:rPr>
              <a:t> clustering and visualized using PCA.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9FE0E-300E-10C4-4360-44EE469990CB}"/>
              </a:ext>
            </a:extLst>
          </p:cNvPr>
          <p:cNvSpPr txBox="1"/>
          <p:nvPr/>
        </p:nvSpPr>
        <p:spPr>
          <a:xfrm>
            <a:off x="5897880" y="534606"/>
            <a:ext cx="81076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8. Model 1 – Decision Tree Classifier</a:t>
            </a:r>
          </a:p>
          <a:p>
            <a:r>
              <a:rPr lang="en-IN" sz="1200" dirty="0">
                <a:solidFill>
                  <a:schemeClr val="bg1"/>
                </a:solidFill>
              </a:rPr>
              <a:t>Split data into train/test.</a:t>
            </a:r>
          </a:p>
          <a:p>
            <a:r>
              <a:rPr lang="en-IN" sz="1200" dirty="0">
                <a:solidFill>
                  <a:schemeClr val="bg1"/>
                </a:solidFill>
              </a:rPr>
              <a:t>Trained and evaluated the model.</a:t>
            </a:r>
          </a:p>
          <a:p>
            <a:r>
              <a:rPr lang="en-IN" sz="1200" dirty="0">
                <a:solidFill>
                  <a:schemeClr val="bg1"/>
                </a:solidFill>
              </a:rPr>
              <a:t>Accuracy = 0.52</a:t>
            </a:r>
          </a:p>
          <a:p>
            <a:r>
              <a:rPr lang="en-IN" sz="1200" dirty="0">
                <a:solidFill>
                  <a:schemeClr val="bg1"/>
                </a:solidFill>
              </a:rPr>
              <a:t>Simpler but prone to overfitting.</a:t>
            </a:r>
          </a:p>
          <a:p>
            <a:r>
              <a:rPr lang="en-IN" sz="1200" dirty="0">
                <a:solidFill>
                  <a:schemeClr val="bg1"/>
                </a:solidFill>
              </a:rPr>
              <a:t>Visualized confusion matrix and feature importance.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9. Model 2 – Random Forest</a:t>
            </a:r>
          </a:p>
          <a:p>
            <a:r>
              <a:rPr lang="en-IN" sz="1200" dirty="0">
                <a:solidFill>
                  <a:schemeClr val="bg1"/>
                </a:solidFill>
              </a:rPr>
              <a:t>Retrained model with better generalization.</a:t>
            </a:r>
          </a:p>
          <a:p>
            <a:r>
              <a:rPr lang="en-IN" sz="1200" dirty="0">
                <a:solidFill>
                  <a:schemeClr val="bg1"/>
                </a:solidFill>
              </a:rPr>
              <a:t>Accuracy = 0.70</a:t>
            </a:r>
          </a:p>
          <a:p>
            <a:r>
              <a:rPr lang="en-IN" sz="1200" dirty="0">
                <a:solidFill>
                  <a:schemeClr val="bg1"/>
                </a:solidFill>
              </a:rPr>
              <a:t>More stable but not as accurate as boosting models.</a:t>
            </a:r>
          </a:p>
          <a:p>
            <a:r>
              <a:rPr lang="en-IN" sz="1200" dirty="0">
                <a:solidFill>
                  <a:schemeClr val="bg1"/>
                </a:solidFill>
              </a:rPr>
              <a:t>Visualized confusion matrix and top features.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10. Model 3 – </a:t>
            </a:r>
            <a:r>
              <a:rPr lang="en-IN" sz="1200" dirty="0" err="1">
                <a:solidFill>
                  <a:schemeClr val="bg1"/>
                </a:solidFill>
              </a:rPr>
              <a:t>XGBoost</a:t>
            </a:r>
            <a:r>
              <a:rPr lang="en-IN" sz="1200" dirty="0">
                <a:solidFill>
                  <a:schemeClr val="bg1"/>
                </a:solidFill>
              </a:rPr>
              <a:t> Classifier</a:t>
            </a:r>
          </a:p>
          <a:p>
            <a:r>
              <a:rPr lang="en-IN" sz="1200" dirty="0">
                <a:solidFill>
                  <a:schemeClr val="bg1"/>
                </a:solidFill>
              </a:rPr>
              <a:t>Trained and tested using </a:t>
            </a:r>
            <a:r>
              <a:rPr lang="en-IN" sz="1200" dirty="0" err="1">
                <a:solidFill>
                  <a:schemeClr val="bg1"/>
                </a:solidFill>
              </a:rPr>
              <a:t>XGBoost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</a:p>
          <a:p>
            <a:r>
              <a:rPr lang="en-IN" sz="1200" dirty="0">
                <a:solidFill>
                  <a:schemeClr val="bg1"/>
                </a:solidFill>
              </a:rPr>
              <a:t>Accuracy = 0.86</a:t>
            </a:r>
          </a:p>
          <a:p>
            <a:r>
              <a:rPr lang="en-IN" sz="1200" dirty="0">
                <a:solidFill>
                  <a:schemeClr val="bg1"/>
                </a:solidFill>
              </a:rPr>
              <a:t>Captured complex relationships using gradient boosting.</a:t>
            </a:r>
          </a:p>
          <a:p>
            <a:r>
              <a:rPr lang="en-IN" sz="1200" dirty="0">
                <a:solidFill>
                  <a:schemeClr val="bg1"/>
                </a:solidFill>
              </a:rPr>
              <a:t>Visualized feature importance and model predictions.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11. Model 4 – </a:t>
            </a:r>
            <a:r>
              <a:rPr lang="en-IN" sz="1200" dirty="0" err="1">
                <a:solidFill>
                  <a:schemeClr val="bg1"/>
                </a:solidFill>
              </a:rPr>
              <a:t>LightGBM</a:t>
            </a:r>
            <a:r>
              <a:rPr lang="en-IN" sz="1200" dirty="0">
                <a:solidFill>
                  <a:schemeClr val="bg1"/>
                </a:solidFill>
              </a:rPr>
              <a:t> Classifier (Best Model)</a:t>
            </a:r>
          </a:p>
          <a:p>
            <a:r>
              <a:rPr lang="en-IN" sz="1200" dirty="0">
                <a:solidFill>
                  <a:schemeClr val="bg1"/>
                </a:solidFill>
              </a:rPr>
              <a:t>Final model trained and tested using </a:t>
            </a:r>
            <a:r>
              <a:rPr lang="en-IN" sz="1200" dirty="0" err="1">
                <a:solidFill>
                  <a:schemeClr val="bg1"/>
                </a:solidFill>
              </a:rPr>
              <a:t>LightGBM</a:t>
            </a:r>
            <a:r>
              <a:rPr lang="en-IN" sz="1200" dirty="0">
                <a:solidFill>
                  <a:schemeClr val="bg1"/>
                </a:solidFill>
              </a:rPr>
              <a:t>.</a:t>
            </a:r>
          </a:p>
          <a:p>
            <a:r>
              <a:rPr lang="en-IN" sz="1200" dirty="0">
                <a:solidFill>
                  <a:schemeClr val="bg1"/>
                </a:solidFill>
              </a:rPr>
              <a:t>Achieved the highest accuracy = 0.90</a:t>
            </a:r>
          </a:p>
          <a:p>
            <a:r>
              <a:rPr lang="en-IN" sz="1200" dirty="0">
                <a:solidFill>
                  <a:schemeClr val="bg1"/>
                </a:solidFill>
              </a:rPr>
              <a:t>Faster and more efficient than </a:t>
            </a:r>
            <a:r>
              <a:rPr lang="en-IN" sz="1200" dirty="0" err="1">
                <a:solidFill>
                  <a:schemeClr val="bg1"/>
                </a:solidFill>
              </a:rPr>
              <a:t>XGBoost</a:t>
            </a:r>
            <a:r>
              <a:rPr lang="en-IN" sz="1200" dirty="0">
                <a:solidFill>
                  <a:schemeClr val="bg1"/>
                </a:solidFill>
              </a:rPr>
              <a:t> with better handling of categorical data.</a:t>
            </a:r>
          </a:p>
          <a:p>
            <a:r>
              <a:rPr lang="en-IN" sz="1200" dirty="0">
                <a:solidFill>
                  <a:schemeClr val="bg1"/>
                </a:solidFill>
              </a:rPr>
              <a:t>Confirmed using confusion matrix and feature insights.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12. Final Result</a:t>
            </a:r>
          </a:p>
          <a:p>
            <a:r>
              <a:rPr lang="en-IN" sz="1200" dirty="0">
                <a:solidFill>
                  <a:schemeClr val="bg1"/>
                </a:solidFill>
              </a:rPr>
              <a:t>Project covered full ML pipeline: Loading → Preprocessing → EDA → </a:t>
            </a:r>
            <a:r>
              <a:rPr lang="en-IN" sz="1200" dirty="0" err="1">
                <a:solidFill>
                  <a:schemeClr val="bg1"/>
                </a:solidFill>
              </a:rPr>
              <a:t>Modeling</a:t>
            </a:r>
            <a:r>
              <a:rPr lang="en-IN" sz="1200" dirty="0">
                <a:solidFill>
                  <a:schemeClr val="bg1"/>
                </a:solidFill>
              </a:rPr>
              <a:t> → Evaluation.</a:t>
            </a:r>
          </a:p>
          <a:p>
            <a:r>
              <a:rPr lang="en-IN" sz="1200" dirty="0" err="1">
                <a:solidFill>
                  <a:schemeClr val="bg1"/>
                </a:solidFill>
              </a:rPr>
              <a:t>LightGBM</a:t>
            </a:r>
            <a:r>
              <a:rPr lang="en-IN" sz="1200" dirty="0">
                <a:solidFill>
                  <a:schemeClr val="bg1"/>
                </a:solidFill>
              </a:rPr>
              <a:t> selected for its superior performance, accuracy, and reliability.</a:t>
            </a:r>
          </a:p>
          <a:p>
            <a:r>
              <a:rPr lang="en-IN" sz="1200" dirty="0">
                <a:solidFill>
                  <a:schemeClr val="bg1"/>
                </a:solidFill>
              </a:rPr>
              <a:t>Can be extended using player-level or ball-by-ball data for further improvement..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2797817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1011</Words>
  <Application>Microsoft Office PowerPoint</Application>
  <PresentationFormat>Widescreen</PresentationFormat>
  <Paragraphs>688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 Unicode MS</vt:lpstr>
      <vt:lpstr>Aharoni</vt:lpstr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Introduction &amp; Objective</vt:lpstr>
      <vt:lpstr>Data Understanding &amp; Loading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4: LightGBM</vt:lpstr>
      <vt:lpstr>Conclusion &amp; Recommendation</vt:lpstr>
      <vt:lpstr>Entire Project Workflow – Step-by-Step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ksrin</dc:creator>
  <cp:lastModifiedBy>x e u s ?</cp:lastModifiedBy>
  <cp:revision>6</cp:revision>
  <dcterms:created xsi:type="dcterms:W3CDTF">2025-07-24T14:45:51Z</dcterms:created>
  <dcterms:modified xsi:type="dcterms:W3CDTF">2025-07-24T17:10:38Z</dcterms:modified>
</cp:coreProperties>
</file>